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image" Target="../media/image-8-13.png"/><Relationship Id="rId14" Type="http://schemas.openxmlformats.org/officeDocument/2006/relationships/image" Target="../media/image-8-14.png"/><Relationship Id="rId15" Type="http://schemas.openxmlformats.org/officeDocument/2006/relationships/image" Target="../media/image-8-15.png"/><Relationship Id="rId16" Type="http://schemas.openxmlformats.org/officeDocument/2006/relationships/image" Target="../media/image-8-16.png"/><Relationship Id="rId17" Type="http://schemas.openxmlformats.org/officeDocument/2006/relationships/slideLayout" Target="../slideLayouts/slideLayout1.xml"/><Relationship Id="rId1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image" Target="../media/image-10-12.png"/><Relationship Id="rId13" Type="http://schemas.openxmlformats.org/officeDocument/2006/relationships/slideLayout" Target="../slideLayouts/slideLayout1.xml"/><Relationship Id="rId1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A1E"/>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7AE60"/>
          </a:solidFill>
          <a:ln w="12700">
            <a:solidFill>
              <a:srgbClr val="27AE60"/>
            </a:solidFill>
            <a:prstDash val="solid"/>
          </a:ln>
        </p:spPr>
      </p:sp>
      <p:pic>
        <p:nvPicPr>
          <p:cNvPr id="3" name="Image 0" descr="preencoded.png">    </p:cNvPr>
          <p:cNvPicPr>
            <a:picLocks noChangeAspect="1"/>
          </p:cNvPicPr>
          <p:nvPr/>
        </p:nvPicPr>
        <p:blipFill>
          <a:blip r:embed="rId1">
            <a:alphaModFix amt="40000"/>
          </a:blip>
          <a:stretch>
            <a:fillRect/>
          </a:stretch>
        </p:blipFill>
        <p:spPr>
          <a:xfrm>
            <a:off x="7772400" y="182880"/>
            <a:ext cx="1097280" cy="1097280"/>
          </a:xfrm>
          <a:prstGeom prst="rect">
            <a:avLst/>
          </a:prstGeom>
        </p:spPr>
      </p:pic>
      <p:sp>
        <p:nvSpPr>
          <p:cNvPr id="4" name="Shape 1"/>
          <p:cNvSpPr/>
          <p:nvPr/>
        </p:nvSpPr>
        <p:spPr>
          <a:xfrm>
            <a:off x="320040" y="228600"/>
            <a:ext cx="4114800" cy="502920"/>
          </a:xfrm>
          <a:prstGeom prst="rect">
            <a:avLst>
              <a:gd name="adj" fmla="val 9091"/>
            </a:avLst>
          </a:prstGeom>
          <a:solidFill>
            <a:srgbClr val="1A7A4A"/>
          </a:solidFill>
          <a:ln w="12700">
            <a:solidFill>
              <a:srgbClr val="1A7A4A"/>
            </a:solidFill>
            <a:prstDash val="solid"/>
          </a:ln>
        </p:spPr>
      </p:sp>
      <p:sp>
        <p:nvSpPr>
          <p:cNvPr id="5" name="Text 2"/>
          <p:cNvSpPr/>
          <p:nvPr/>
        </p:nvSpPr>
        <p:spPr>
          <a:xfrm>
            <a:off x="320040" y="228600"/>
            <a:ext cx="4114800" cy="502920"/>
          </a:xfrm>
          <a:prstGeom prst="rect">
            <a:avLst/>
          </a:prstGeom>
          <a:noFill/>
          <a:ln/>
        </p:spPr>
        <p:txBody>
          <a:bodyPr wrap="square" lIns="0" tIns="0" rIns="0" bIns="0" rtlCol="0" anchor="ctr"/>
          <a:lstStyle/>
          <a:p>
            <a:pPr algn="ctr" indent="0" marL="0">
              <a:buNone/>
            </a:pPr>
            <a:r>
              <a:rPr lang="en-US" sz="1100" b="1" dirty="0">
                <a:solidFill>
                  <a:srgbClr val="FFFFFF"/>
                </a:solidFill>
              </a:rPr>
              <a:t>IAI Cameroun  |  Année Académique 2025/2026</a:t>
            </a:r>
            <a:endParaRPr lang="en-US" sz="1100" dirty="0"/>
          </a:p>
        </p:txBody>
      </p:sp>
      <p:sp>
        <p:nvSpPr>
          <p:cNvPr id="6" name="Text 3"/>
          <p:cNvSpPr/>
          <p:nvPr/>
        </p:nvSpPr>
        <p:spPr>
          <a:xfrm>
            <a:off x="320040" y="960120"/>
            <a:ext cx="8503920" cy="1188720"/>
          </a:xfrm>
          <a:prstGeom prst="rect">
            <a:avLst/>
          </a:prstGeom>
          <a:noFill/>
          <a:ln/>
        </p:spPr>
        <p:txBody>
          <a:bodyPr wrap="square" rtlCol="0" anchor="ctr"/>
          <a:lstStyle/>
          <a:p>
            <a:pPr algn="l" indent="0" marL="0">
              <a:buNone/>
            </a:pPr>
            <a:r>
              <a:rPr lang="en-US" sz="6200" b="1" spc="200" kern="0" dirty="0">
                <a:solidFill>
                  <a:srgbClr val="FFFFFF"/>
                </a:solidFill>
                <a:latin typeface="Calibri" pitchFamily="34" charset="0"/>
                <a:ea typeface="Calibri" pitchFamily="34" charset="-122"/>
                <a:cs typeface="Calibri" pitchFamily="34" charset="-120"/>
              </a:rPr>
              <a:t>Smart Scan AI</a:t>
            </a:r>
            <a:endParaRPr lang="en-US" sz="6200" dirty="0"/>
          </a:p>
        </p:txBody>
      </p:sp>
      <p:sp>
        <p:nvSpPr>
          <p:cNvPr id="7" name="Shape 4"/>
          <p:cNvSpPr/>
          <p:nvPr/>
        </p:nvSpPr>
        <p:spPr>
          <a:xfrm>
            <a:off x="320040" y="2057400"/>
            <a:ext cx="5486400" cy="45720"/>
          </a:xfrm>
          <a:prstGeom prst="rect">
            <a:avLst/>
          </a:prstGeom>
          <a:solidFill>
            <a:srgbClr val="27AE60"/>
          </a:solidFill>
          <a:ln w="12700">
            <a:solidFill>
              <a:srgbClr val="27AE60"/>
            </a:solidFill>
            <a:prstDash val="solid"/>
          </a:ln>
        </p:spPr>
      </p:sp>
      <p:sp>
        <p:nvSpPr>
          <p:cNvPr id="8" name="Text 5"/>
          <p:cNvSpPr/>
          <p:nvPr/>
        </p:nvSpPr>
        <p:spPr>
          <a:xfrm>
            <a:off x="320040" y="2240280"/>
            <a:ext cx="7315200" cy="594360"/>
          </a:xfrm>
          <a:prstGeom prst="rect">
            <a:avLst/>
          </a:prstGeom>
          <a:noFill/>
          <a:ln/>
        </p:spPr>
        <p:txBody>
          <a:bodyPr wrap="square" rtlCol="0" anchor="ctr"/>
          <a:lstStyle/>
          <a:p>
            <a:pPr algn="l" indent="0" marL="0">
              <a:buNone/>
            </a:pPr>
            <a:r>
              <a:rPr lang="en-US" sz="2000" i="1" dirty="0">
                <a:solidFill>
                  <a:srgbClr val="4CAF8A"/>
                </a:solidFill>
                <a:latin typeface="Calibri" pitchFamily="34" charset="0"/>
                <a:ea typeface="Calibri" pitchFamily="34" charset="-122"/>
                <a:cs typeface="Calibri" pitchFamily="34" charset="-120"/>
              </a:rPr>
              <a:t>Assistant Intelligent pour la Culture du Cacao</a:t>
            </a:r>
            <a:endParaRPr lang="en-US" sz="2000" dirty="0"/>
          </a:p>
        </p:txBody>
      </p:sp>
      <p:sp>
        <p:nvSpPr>
          <p:cNvPr id="9" name="Text 6"/>
          <p:cNvSpPr/>
          <p:nvPr/>
        </p:nvSpPr>
        <p:spPr>
          <a:xfrm>
            <a:off x="320040" y="2926080"/>
            <a:ext cx="7315200" cy="411480"/>
          </a:xfrm>
          <a:prstGeom prst="rect">
            <a:avLst/>
          </a:prstGeom>
          <a:noFill/>
          <a:ln/>
        </p:spPr>
        <p:txBody>
          <a:bodyPr wrap="square" rtlCol="0" anchor="ctr"/>
          <a:lstStyle/>
          <a:p>
            <a:pPr algn="l" indent="0" marL="0">
              <a:buNone/>
            </a:pPr>
            <a:r>
              <a:rPr lang="en-US" sz="1300" dirty="0">
                <a:solidFill>
                  <a:srgbClr val="AACCBB"/>
                </a:solidFill>
              </a:rPr>
              <a:t>Application Mobile React Native (Expo) — Diagnostic IA — Météo Agricole</a:t>
            </a:r>
            <a:endParaRPr lang="en-US" sz="1300" dirty="0"/>
          </a:p>
        </p:txBody>
      </p:sp>
      <p:sp>
        <p:nvSpPr>
          <p:cNvPr id="10" name="Text 7"/>
          <p:cNvSpPr/>
          <p:nvPr/>
        </p:nvSpPr>
        <p:spPr>
          <a:xfrm>
            <a:off x="320040" y="3520440"/>
            <a:ext cx="2286000" cy="320040"/>
          </a:xfrm>
          <a:prstGeom prst="rect">
            <a:avLst/>
          </a:prstGeom>
          <a:noFill/>
          <a:ln/>
        </p:spPr>
        <p:txBody>
          <a:bodyPr wrap="square" rtlCol="0" anchor="ctr"/>
          <a:lstStyle/>
          <a:p>
            <a:pPr algn="l" indent="0" marL="0">
              <a:buNone/>
            </a:pPr>
            <a:r>
              <a:rPr lang="en-US" sz="1100" dirty="0">
                <a:solidFill>
                  <a:srgbClr val="7ABAAA"/>
                </a:solidFill>
              </a:rPr>
              <a:t>Réalisé avec :</a:t>
            </a:r>
            <a:endParaRPr lang="en-US" sz="1100" dirty="0"/>
          </a:p>
        </p:txBody>
      </p:sp>
      <p:pic>
        <p:nvPicPr>
          <p:cNvPr id="11" name="Image 1" descr="preencoded.png">    </p:cNvPr>
          <p:cNvPicPr>
            <a:picLocks noChangeAspect="1"/>
          </p:cNvPicPr>
          <p:nvPr/>
        </p:nvPicPr>
        <p:blipFill>
          <a:blip r:embed="rId2"/>
          <a:stretch>
            <a:fillRect/>
          </a:stretch>
        </p:blipFill>
        <p:spPr>
          <a:xfrm>
            <a:off x="320040" y="3840480"/>
            <a:ext cx="594360" cy="594360"/>
          </a:xfrm>
          <a:prstGeom prst="rect">
            <a:avLst/>
          </a:prstGeom>
        </p:spPr>
      </p:pic>
      <p:sp>
        <p:nvSpPr>
          <p:cNvPr id="12" name="Text 8"/>
          <p:cNvSpPr/>
          <p:nvPr/>
        </p:nvSpPr>
        <p:spPr>
          <a:xfrm>
            <a:off x="960120" y="3931920"/>
            <a:ext cx="1097280" cy="411480"/>
          </a:xfrm>
          <a:prstGeom prst="rect">
            <a:avLst/>
          </a:prstGeom>
          <a:noFill/>
          <a:ln/>
        </p:spPr>
        <p:txBody>
          <a:bodyPr wrap="square" rtlCol="0" anchor="ctr"/>
          <a:lstStyle/>
          <a:p>
            <a:pPr indent="0" marL="0">
              <a:buNone/>
            </a:pPr>
            <a:r>
              <a:rPr lang="en-US" sz="1200" b="1" dirty="0">
                <a:solidFill>
                  <a:srgbClr val="FFA000"/>
                </a:solidFill>
              </a:rPr>
              <a:t>Firebase</a:t>
            </a:r>
            <a:endParaRPr lang="en-US" sz="1200" dirty="0"/>
          </a:p>
        </p:txBody>
      </p:sp>
      <p:pic>
        <p:nvPicPr>
          <p:cNvPr id="13" name="Image 2" descr="preencoded.png">    </p:cNvPr>
          <p:cNvPicPr>
            <a:picLocks noChangeAspect="1"/>
          </p:cNvPicPr>
          <p:nvPr/>
        </p:nvPicPr>
        <p:blipFill>
          <a:blip r:embed="rId3"/>
          <a:stretch>
            <a:fillRect/>
          </a:stretch>
        </p:blipFill>
        <p:spPr>
          <a:xfrm>
            <a:off x="2560320" y="3840480"/>
            <a:ext cx="594360" cy="594360"/>
          </a:xfrm>
          <a:prstGeom prst="rect">
            <a:avLst/>
          </a:prstGeom>
        </p:spPr>
      </p:pic>
      <p:sp>
        <p:nvSpPr>
          <p:cNvPr id="14" name="Text 9"/>
          <p:cNvSpPr/>
          <p:nvPr/>
        </p:nvSpPr>
        <p:spPr>
          <a:xfrm>
            <a:off x="3200400" y="3931920"/>
            <a:ext cx="2286000" cy="411480"/>
          </a:xfrm>
          <a:prstGeom prst="rect">
            <a:avLst/>
          </a:prstGeom>
          <a:noFill/>
          <a:ln/>
        </p:spPr>
        <p:txBody>
          <a:bodyPr wrap="square" rtlCol="0" anchor="ctr"/>
          <a:lstStyle/>
          <a:p>
            <a:pPr indent="0" marL="0">
              <a:buNone/>
            </a:pPr>
            <a:r>
              <a:rPr lang="en-US" sz="1200" b="1" dirty="0">
                <a:solidFill>
                  <a:srgbClr val="61DAFB"/>
                </a:solidFill>
              </a:rPr>
              <a:t>React Native (Expo)</a:t>
            </a:r>
            <a:endParaRPr lang="en-US" sz="1200" dirty="0"/>
          </a:p>
        </p:txBody>
      </p:sp>
      <p:sp>
        <p:nvSpPr>
          <p:cNvPr id="15" name="Shape 10"/>
          <p:cNvSpPr/>
          <p:nvPr/>
        </p:nvSpPr>
        <p:spPr>
          <a:xfrm>
            <a:off x="0" y="4983480"/>
            <a:ext cx="9144000" cy="160020"/>
          </a:xfrm>
          <a:prstGeom prst="rect">
            <a:avLst/>
          </a:prstGeom>
          <a:solidFill>
            <a:srgbClr val="1A7A4A"/>
          </a:solidFill>
          <a:ln w="12700">
            <a:solidFill>
              <a:srgbClr val="1A7A4A"/>
            </a:solidFill>
            <a:prstDash val="solid"/>
          </a:ln>
        </p:spPr>
      </p:sp>
      <p:sp>
        <p:nvSpPr>
          <p:cNvPr id="16" name="Text 11"/>
          <p:cNvSpPr/>
          <p:nvPr/>
        </p:nvSpPr>
        <p:spPr>
          <a:xfrm>
            <a:off x="0" y="4983480"/>
            <a:ext cx="9144000" cy="160020"/>
          </a:xfrm>
          <a:prstGeom prst="rect">
            <a:avLst/>
          </a:prstGeom>
          <a:noFill/>
          <a:ln/>
        </p:spPr>
        <p:txBody>
          <a:bodyPr wrap="square" lIns="0" tIns="0" rIns="0" bIns="0" rtlCol="0" anchor="ctr"/>
          <a:lstStyle/>
          <a:p>
            <a:pPr algn="ctr" indent="0" marL="0">
              <a:buNone/>
            </a:pPr>
            <a:r>
              <a:rPr lang="en-US" sz="900" dirty="0">
                <a:solidFill>
                  <a:srgbClr val="FFFFFF"/>
                </a:solidFill>
              </a:rPr>
              <a:t>Projet de fin de formation — Développement Mobile &amp; Assistance Agricole</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AF4"/>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F2A1E"/>
          </a:solidFill>
          <a:ln w="12700">
            <a:solidFill>
              <a:srgbClr val="0F2A1E"/>
            </a:solidFill>
            <a:prstDash val="solid"/>
          </a:ln>
        </p:spPr>
      </p:sp>
      <p:sp>
        <p:nvSpPr>
          <p:cNvPr id="3" name="Text 1"/>
          <p:cNvSpPr/>
          <p:nvPr/>
        </p:nvSpPr>
        <p:spPr>
          <a:xfrm>
            <a:off x="457200" y="0"/>
            <a:ext cx="8229600" cy="96012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Introduction</a:t>
            </a:r>
            <a:endParaRPr lang="en-US" sz="3000" dirty="0"/>
          </a:p>
        </p:txBody>
      </p:sp>
      <p:pic>
        <p:nvPicPr>
          <p:cNvPr id="4" name="Image 0" descr="preencoded.png">    </p:cNvPr>
          <p:cNvPicPr>
            <a:picLocks noChangeAspect="1"/>
          </p:cNvPicPr>
          <p:nvPr/>
        </p:nvPicPr>
        <p:blipFill>
          <a:blip r:embed="rId1"/>
          <a:stretch>
            <a:fillRect/>
          </a:stretch>
        </p:blipFill>
        <p:spPr>
          <a:xfrm>
            <a:off x="8321040" y="182880"/>
            <a:ext cx="548640" cy="548640"/>
          </a:xfrm>
          <a:prstGeom prst="rect">
            <a:avLst/>
          </a:prstGeom>
        </p:spPr>
      </p:pic>
      <p:sp>
        <p:nvSpPr>
          <p:cNvPr id="5" name="Shape 2"/>
          <p:cNvSpPr/>
          <p:nvPr/>
        </p:nvSpPr>
        <p:spPr>
          <a:xfrm>
            <a:off x="228600" y="1143000"/>
            <a:ext cx="2834640" cy="3474720"/>
          </a:xfrm>
          <a:prstGeom prst="rect">
            <a:avLst/>
          </a:prstGeom>
          <a:solidFill>
            <a:srgbClr val="FFFFFF"/>
          </a:solidFill>
          <a:ln w="12700">
            <a:solidFill>
              <a:srgbClr val="4CAF8A"/>
            </a:solidFill>
            <a:prstDash val="solid"/>
          </a:ln>
          <a:effectLst>
            <a:outerShdw sx="100000" sy="100000" kx="0" ky="0" algn="bl" rotWithShape="0" blurRad="101600" dist="25400" dir="8100000">
              <a:srgbClr val="000000">
                <a:alpha val="8000"/>
              </a:srgbClr>
            </a:outerShdw>
          </a:effectLst>
        </p:spPr>
      </p:sp>
      <p:sp>
        <p:nvSpPr>
          <p:cNvPr id="6" name="Shape 3"/>
          <p:cNvSpPr/>
          <p:nvPr/>
        </p:nvSpPr>
        <p:spPr>
          <a:xfrm>
            <a:off x="228600" y="1143000"/>
            <a:ext cx="2834640" cy="64008"/>
          </a:xfrm>
          <a:prstGeom prst="rect">
            <a:avLst/>
          </a:prstGeom>
          <a:solidFill>
            <a:srgbClr val="27AE60"/>
          </a:solidFill>
          <a:ln w="12700">
            <a:solidFill>
              <a:srgbClr val="27AE60"/>
            </a:solidFill>
            <a:prstDash val="solid"/>
          </a:ln>
        </p:spPr>
      </p:sp>
      <p:pic>
        <p:nvPicPr>
          <p:cNvPr id="7" name="Image 1" descr="preencoded.png">    </p:cNvPr>
          <p:cNvPicPr>
            <a:picLocks noChangeAspect="1"/>
          </p:cNvPicPr>
          <p:nvPr/>
        </p:nvPicPr>
        <p:blipFill>
          <a:blip r:embed="rId2"/>
          <a:stretch>
            <a:fillRect/>
          </a:stretch>
        </p:blipFill>
        <p:spPr>
          <a:xfrm>
            <a:off x="1325880" y="1325880"/>
            <a:ext cx="640080" cy="640080"/>
          </a:xfrm>
          <a:prstGeom prst="rect">
            <a:avLst/>
          </a:prstGeom>
        </p:spPr>
      </p:pic>
      <p:sp>
        <p:nvSpPr>
          <p:cNvPr id="8" name="Text 4"/>
          <p:cNvSpPr/>
          <p:nvPr/>
        </p:nvSpPr>
        <p:spPr>
          <a:xfrm>
            <a:off x="320040" y="2057400"/>
            <a:ext cx="2651760" cy="457200"/>
          </a:xfrm>
          <a:prstGeom prst="rect">
            <a:avLst/>
          </a:prstGeom>
          <a:noFill/>
          <a:ln/>
        </p:spPr>
        <p:txBody>
          <a:bodyPr wrap="square" rtlCol="0" anchor="ctr"/>
          <a:lstStyle/>
          <a:p>
            <a:pPr algn="ctr" indent="0" marL="0">
              <a:buNone/>
            </a:pPr>
            <a:r>
              <a:rPr lang="en-US" sz="1400" b="1" dirty="0">
                <a:solidFill>
                  <a:srgbClr val="0D1F17"/>
                </a:solidFill>
              </a:rPr>
              <a:t>Acteurs concernés</a:t>
            </a:r>
            <a:endParaRPr lang="en-US" sz="1400" dirty="0"/>
          </a:p>
        </p:txBody>
      </p:sp>
      <p:sp>
        <p:nvSpPr>
          <p:cNvPr id="9" name="Text 5"/>
          <p:cNvSpPr/>
          <p:nvPr/>
        </p:nvSpPr>
        <p:spPr>
          <a:xfrm>
            <a:off x="365760" y="2560320"/>
            <a:ext cx="2560320" cy="1920240"/>
          </a:xfrm>
          <a:prstGeom prst="rect">
            <a:avLst/>
          </a:prstGeom>
          <a:noFill/>
          <a:ln/>
        </p:spPr>
        <p:txBody>
          <a:bodyPr wrap="square" rtlCol="0" anchor="ctr"/>
          <a:lstStyle/>
          <a:p>
            <a:pPr algn="l" indent="0" marL="0">
              <a:buNone/>
            </a:pPr>
            <a:r>
              <a:rPr lang="en-US" sz="1150" dirty="0">
                <a:solidFill>
                  <a:srgbClr val="2E5740"/>
                </a:solidFill>
              </a:rPr>
              <a:t>Les producteurs de cacao en Afrique subsaharienne, notamment au Cameroun, font face à des pertes agricoles croissantes.</a:t>
            </a:r>
            <a:endParaRPr lang="en-US" sz="1150" dirty="0"/>
          </a:p>
        </p:txBody>
      </p:sp>
      <p:sp>
        <p:nvSpPr>
          <p:cNvPr id="10" name="Shape 6"/>
          <p:cNvSpPr/>
          <p:nvPr/>
        </p:nvSpPr>
        <p:spPr>
          <a:xfrm>
            <a:off x="3200400" y="1143000"/>
            <a:ext cx="2834640" cy="3474720"/>
          </a:xfrm>
          <a:prstGeom prst="rect">
            <a:avLst/>
          </a:prstGeom>
          <a:solidFill>
            <a:srgbClr val="FFFFFF"/>
          </a:solidFill>
          <a:ln w="12700">
            <a:solidFill>
              <a:srgbClr val="4CAF8A"/>
            </a:solidFill>
            <a:prstDash val="solid"/>
          </a:ln>
          <a:effectLst>
            <a:outerShdw sx="100000" sy="100000" kx="0" ky="0" algn="bl" rotWithShape="0" blurRad="101600" dist="25400" dir="8100000">
              <a:srgbClr val="000000">
                <a:alpha val="8000"/>
              </a:srgbClr>
            </a:outerShdw>
          </a:effectLst>
        </p:spPr>
      </p:sp>
      <p:sp>
        <p:nvSpPr>
          <p:cNvPr id="11" name="Shape 7"/>
          <p:cNvSpPr/>
          <p:nvPr/>
        </p:nvSpPr>
        <p:spPr>
          <a:xfrm>
            <a:off x="3200400" y="1143000"/>
            <a:ext cx="2834640" cy="64008"/>
          </a:xfrm>
          <a:prstGeom prst="rect">
            <a:avLst/>
          </a:prstGeom>
          <a:solidFill>
            <a:srgbClr val="27AE60"/>
          </a:solidFill>
          <a:ln w="12700">
            <a:solidFill>
              <a:srgbClr val="27AE60"/>
            </a:solidFill>
            <a:prstDash val="solid"/>
          </a:ln>
        </p:spPr>
      </p:sp>
      <p:pic>
        <p:nvPicPr>
          <p:cNvPr id="12" name="Image 2" descr="preencoded.png">    </p:cNvPr>
          <p:cNvPicPr>
            <a:picLocks noChangeAspect="1"/>
          </p:cNvPicPr>
          <p:nvPr/>
        </p:nvPicPr>
        <p:blipFill>
          <a:blip r:embed="rId3"/>
          <a:stretch>
            <a:fillRect/>
          </a:stretch>
        </p:blipFill>
        <p:spPr>
          <a:xfrm>
            <a:off x="4297680" y="1325880"/>
            <a:ext cx="640080" cy="640080"/>
          </a:xfrm>
          <a:prstGeom prst="rect">
            <a:avLst/>
          </a:prstGeom>
        </p:spPr>
      </p:pic>
      <p:sp>
        <p:nvSpPr>
          <p:cNvPr id="13" name="Text 8"/>
          <p:cNvSpPr/>
          <p:nvPr/>
        </p:nvSpPr>
        <p:spPr>
          <a:xfrm>
            <a:off x="3291840" y="2057400"/>
            <a:ext cx="2651760" cy="457200"/>
          </a:xfrm>
          <a:prstGeom prst="rect">
            <a:avLst/>
          </a:prstGeom>
          <a:noFill/>
          <a:ln/>
        </p:spPr>
        <p:txBody>
          <a:bodyPr wrap="square" rtlCol="0" anchor="ctr"/>
          <a:lstStyle/>
          <a:p>
            <a:pPr algn="ctr" indent="0" marL="0">
              <a:buNone/>
            </a:pPr>
            <a:r>
              <a:rPr lang="en-US" sz="1400" b="1" dirty="0">
                <a:solidFill>
                  <a:srgbClr val="0D1F17"/>
                </a:solidFill>
              </a:rPr>
              <a:t>Le Problème</a:t>
            </a:r>
            <a:endParaRPr lang="en-US" sz="1400" dirty="0"/>
          </a:p>
        </p:txBody>
      </p:sp>
      <p:sp>
        <p:nvSpPr>
          <p:cNvPr id="14" name="Text 9"/>
          <p:cNvSpPr/>
          <p:nvPr/>
        </p:nvSpPr>
        <p:spPr>
          <a:xfrm>
            <a:off x="3337560" y="2560320"/>
            <a:ext cx="2560320" cy="1920240"/>
          </a:xfrm>
          <a:prstGeom prst="rect">
            <a:avLst/>
          </a:prstGeom>
          <a:noFill/>
          <a:ln/>
        </p:spPr>
        <p:txBody>
          <a:bodyPr wrap="square" rtlCol="0" anchor="ctr"/>
          <a:lstStyle/>
          <a:p>
            <a:pPr algn="l" indent="0" marL="0">
              <a:buNone/>
            </a:pPr>
            <a:r>
              <a:rPr lang="en-US" sz="1150" dirty="0">
                <a:solidFill>
                  <a:srgbClr val="2E5740"/>
                </a:solidFill>
              </a:rPr>
              <a:t>La pourriture brune et d'autres maladies détruisent jusqu'à 30% des récoltes, faute de diagnostic rapide et accessible.</a:t>
            </a:r>
            <a:endParaRPr lang="en-US" sz="1150" dirty="0"/>
          </a:p>
        </p:txBody>
      </p:sp>
      <p:sp>
        <p:nvSpPr>
          <p:cNvPr id="15" name="Shape 10"/>
          <p:cNvSpPr/>
          <p:nvPr/>
        </p:nvSpPr>
        <p:spPr>
          <a:xfrm>
            <a:off x="6172200" y="1143000"/>
            <a:ext cx="2834640" cy="3474720"/>
          </a:xfrm>
          <a:prstGeom prst="rect">
            <a:avLst/>
          </a:prstGeom>
          <a:solidFill>
            <a:srgbClr val="FFFFFF"/>
          </a:solidFill>
          <a:ln w="12700">
            <a:solidFill>
              <a:srgbClr val="4CAF8A"/>
            </a:solidFill>
            <a:prstDash val="solid"/>
          </a:ln>
          <a:effectLst>
            <a:outerShdw sx="100000" sy="100000" kx="0" ky="0" algn="bl" rotWithShape="0" blurRad="101600" dist="25400" dir="8100000">
              <a:srgbClr val="000000">
                <a:alpha val="8000"/>
              </a:srgbClr>
            </a:outerShdw>
          </a:effectLst>
        </p:spPr>
      </p:sp>
      <p:sp>
        <p:nvSpPr>
          <p:cNvPr id="16" name="Shape 11"/>
          <p:cNvSpPr/>
          <p:nvPr/>
        </p:nvSpPr>
        <p:spPr>
          <a:xfrm>
            <a:off x="6172200" y="1143000"/>
            <a:ext cx="2834640" cy="64008"/>
          </a:xfrm>
          <a:prstGeom prst="rect">
            <a:avLst/>
          </a:prstGeom>
          <a:solidFill>
            <a:srgbClr val="27AE60"/>
          </a:solidFill>
          <a:ln w="12700">
            <a:solidFill>
              <a:srgbClr val="27AE60"/>
            </a:solidFill>
            <a:prstDash val="solid"/>
          </a:ln>
        </p:spPr>
      </p:sp>
      <p:pic>
        <p:nvPicPr>
          <p:cNvPr id="17" name="Image 3" descr="preencoded.png">    </p:cNvPr>
          <p:cNvPicPr>
            <a:picLocks noChangeAspect="1"/>
          </p:cNvPicPr>
          <p:nvPr/>
        </p:nvPicPr>
        <p:blipFill>
          <a:blip r:embed="rId4"/>
          <a:stretch>
            <a:fillRect/>
          </a:stretch>
        </p:blipFill>
        <p:spPr>
          <a:xfrm>
            <a:off x="7269480" y="1325880"/>
            <a:ext cx="640080" cy="640080"/>
          </a:xfrm>
          <a:prstGeom prst="rect">
            <a:avLst/>
          </a:prstGeom>
        </p:spPr>
      </p:pic>
      <p:sp>
        <p:nvSpPr>
          <p:cNvPr id="18" name="Text 12"/>
          <p:cNvSpPr/>
          <p:nvPr/>
        </p:nvSpPr>
        <p:spPr>
          <a:xfrm>
            <a:off x="6263640" y="2057400"/>
            <a:ext cx="2651760" cy="457200"/>
          </a:xfrm>
          <a:prstGeom prst="rect">
            <a:avLst/>
          </a:prstGeom>
          <a:noFill/>
          <a:ln/>
        </p:spPr>
        <p:txBody>
          <a:bodyPr wrap="square" rtlCol="0" anchor="ctr"/>
          <a:lstStyle/>
          <a:p>
            <a:pPr algn="ctr" indent="0" marL="0">
              <a:buNone/>
            </a:pPr>
            <a:r>
              <a:rPr lang="en-US" sz="1400" b="1" dirty="0">
                <a:solidFill>
                  <a:srgbClr val="0D1F17"/>
                </a:solidFill>
              </a:rPr>
              <a:t>Notre Réponse</a:t>
            </a:r>
            <a:endParaRPr lang="en-US" sz="1400" dirty="0"/>
          </a:p>
        </p:txBody>
      </p:sp>
      <p:sp>
        <p:nvSpPr>
          <p:cNvPr id="19" name="Text 13"/>
          <p:cNvSpPr/>
          <p:nvPr/>
        </p:nvSpPr>
        <p:spPr>
          <a:xfrm>
            <a:off x="6309360" y="2560320"/>
            <a:ext cx="2560320" cy="1920240"/>
          </a:xfrm>
          <a:prstGeom prst="rect">
            <a:avLst/>
          </a:prstGeom>
          <a:noFill/>
          <a:ln/>
        </p:spPr>
        <p:txBody>
          <a:bodyPr wrap="square" rtlCol="0" anchor="ctr"/>
          <a:lstStyle/>
          <a:p>
            <a:pPr algn="l" indent="0" marL="0">
              <a:buNone/>
            </a:pPr>
            <a:r>
              <a:rPr lang="en-US" sz="1150" dirty="0">
                <a:solidFill>
                  <a:srgbClr val="2E5740"/>
                </a:solidFill>
              </a:rPr>
              <a:t>Smart Scan AI est une application mobile hors ligne offrant diagnostic visuel, météo agricole et conseils adaptés.</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2A1E"/>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7AE60"/>
          </a:solidFill>
          <a:ln w="12700">
            <a:solidFill>
              <a:srgbClr val="27AE60"/>
            </a:solidFill>
            <a:prstDash val="solid"/>
          </a:ln>
        </p:spPr>
      </p:sp>
      <p:sp>
        <p:nvSpPr>
          <p:cNvPr id="3" name="Text 1"/>
          <p:cNvSpPr/>
          <p:nvPr/>
        </p:nvSpPr>
        <p:spPr>
          <a:xfrm>
            <a:off x="320040" y="228600"/>
            <a:ext cx="8229600" cy="68580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Plan de Présentation</a:t>
            </a:r>
            <a:endParaRPr lang="en-US" sz="3200" dirty="0"/>
          </a:p>
        </p:txBody>
      </p:sp>
      <p:sp>
        <p:nvSpPr>
          <p:cNvPr id="4" name="Shape 2"/>
          <p:cNvSpPr/>
          <p:nvPr/>
        </p:nvSpPr>
        <p:spPr>
          <a:xfrm>
            <a:off x="320040" y="896112"/>
            <a:ext cx="3200400" cy="36576"/>
          </a:xfrm>
          <a:prstGeom prst="rect">
            <a:avLst/>
          </a:prstGeom>
          <a:solidFill>
            <a:srgbClr val="27AE60"/>
          </a:solidFill>
          <a:ln w="12700">
            <a:solidFill>
              <a:srgbClr val="27AE60"/>
            </a:solidFill>
            <a:prstDash val="solid"/>
          </a:ln>
        </p:spPr>
      </p:sp>
      <p:sp>
        <p:nvSpPr>
          <p:cNvPr id="5" name="Shape 3"/>
          <p:cNvSpPr/>
          <p:nvPr/>
        </p:nvSpPr>
        <p:spPr>
          <a:xfrm>
            <a:off x="320040" y="1097280"/>
            <a:ext cx="502920" cy="502920"/>
          </a:xfrm>
          <a:prstGeom prst="rect">
            <a:avLst/>
          </a:prstGeom>
          <a:solidFill>
            <a:srgbClr val="1A7A4A"/>
          </a:solidFill>
          <a:ln w="12700">
            <a:solidFill>
              <a:srgbClr val="1A7A4A"/>
            </a:solidFill>
            <a:prstDash val="solid"/>
          </a:ln>
        </p:spPr>
      </p:sp>
      <p:sp>
        <p:nvSpPr>
          <p:cNvPr id="6" name="Text 4"/>
          <p:cNvSpPr/>
          <p:nvPr/>
        </p:nvSpPr>
        <p:spPr>
          <a:xfrm>
            <a:off x="320040" y="1097280"/>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rPr>
              <a:t>01</a:t>
            </a:r>
            <a:endParaRPr lang="en-US" sz="1300" dirty="0"/>
          </a:p>
        </p:txBody>
      </p:sp>
      <p:sp>
        <p:nvSpPr>
          <p:cNvPr id="7" name="Text 5"/>
          <p:cNvSpPr/>
          <p:nvPr/>
        </p:nvSpPr>
        <p:spPr>
          <a:xfrm>
            <a:off x="914400" y="1133856"/>
            <a:ext cx="3200400" cy="429768"/>
          </a:xfrm>
          <a:prstGeom prst="rect">
            <a:avLst/>
          </a:prstGeom>
          <a:noFill/>
          <a:ln/>
        </p:spPr>
        <p:txBody>
          <a:bodyPr wrap="square" rtlCol="0" anchor="ctr"/>
          <a:lstStyle/>
          <a:p>
            <a:pPr indent="0" marL="0">
              <a:buNone/>
            </a:pPr>
            <a:r>
              <a:rPr lang="en-US" sz="1300" dirty="0">
                <a:solidFill>
                  <a:srgbClr val="AACCBB"/>
                </a:solidFill>
              </a:rPr>
              <a:t>Contexte, Problématique &amp; Solution</a:t>
            </a:r>
            <a:endParaRPr lang="en-US" sz="1300" dirty="0"/>
          </a:p>
        </p:txBody>
      </p:sp>
      <p:sp>
        <p:nvSpPr>
          <p:cNvPr id="8" name="Shape 6"/>
          <p:cNvSpPr/>
          <p:nvPr/>
        </p:nvSpPr>
        <p:spPr>
          <a:xfrm>
            <a:off x="320040" y="1828800"/>
            <a:ext cx="502920" cy="502920"/>
          </a:xfrm>
          <a:prstGeom prst="rect">
            <a:avLst/>
          </a:prstGeom>
          <a:solidFill>
            <a:srgbClr val="1A7A4A"/>
          </a:solidFill>
          <a:ln w="12700">
            <a:solidFill>
              <a:srgbClr val="1A7A4A"/>
            </a:solidFill>
            <a:prstDash val="solid"/>
          </a:ln>
        </p:spPr>
      </p:sp>
      <p:sp>
        <p:nvSpPr>
          <p:cNvPr id="9" name="Text 7"/>
          <p:cNvSpPr/>
          <p:nvPr/>
        </p:nvSpPr>
        <p:spPr>
          <a:xfrm>
            <a:off x="320040" y="1828800"/>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rPr>
              <a:t>02</a:t>
            </a:r>
            <a:endParaRPr lang="en-US" sz="1300" dirty="0"/>
          </a:p>
        </p:txBody>
      </p:sp>
      <p:sp>
        <p:nvSpPr>
          <p:cNvPr id="10" name="Text 8"/>
          <p:cNvSpPr/>
          <p:nvPr/>
        </p:nvSpPr>
        <p:spPr>
          <a:xfrm>
            <a:off x="914400" y="1865376"/>
            <a:ext cx="3200400" cy="429768"/>
          </a:xfrm>
          <a:prstGeom prst="rect">
            <a:avLst/>
          </a:prstGeom>
          <a:noFill/>
          <a:ln/>
        </p:spPr>
        <p:txBody>
          <a:bodyPr wrap="square" rtlCol="0" anchor="ctr"/>
          <a:lstStyle/>
          <a:p>
            <a:pPr indent="0" marL="0">
              <a:buNone/>
            </a:pPr>
            <a:r>
              <a:rPr lang="en-US" sz="1300" dirty="0">
                <a:solidFill>
                  <a:srgbClr val="AACCBB"/>
                </a:solidFill>
              </a:rPr>
              <a:t>Objectif Général du Projet</a:t>
            </a:r>
            <a:endParaRPr lang="en-US" sz="1300" dirty="0"/>
          </a:p>
        </p:txBody>
      </p:sp>
      <p:sp>
        <p:nvSpPr>
          <p:cNvPr id="11" name="Shape 9"/>
          <p:cNvSpPr/>
          <p:nvPr/>
        </p:nvSpPr>
        <p:spPr>
          <a:xfrm>
            <a:off x="320040" y="2560320"/>
            <a:ext cx="502920" cy="502920"/>
          </a:xfrm>
          <a:prstGeom prst="rect">
            <a:avLst/>
          </a:prstGeom>
          <a:solidFill>
            <a:srgbClr val="1A7A4A"/>
          </a:solidFill>
          <a:ln w="12700">
            <a:solidFill>
              <a:srgbClr val="1A7A4A"/>
            </a:solidFill>
            <a:prstDash val="solid"/>
          </a:ln>
        </p:spPr>
      </p:sp>
      <p:sp>
        <p:nvSpPr>
          <p:cNvPr id="12" name="Text 10"/>
          <p:cNvSpPr/>
          <p:nvPr/>
        </p:nvSpPr>
        <p:spPr>
          <a:xfrm>
            <a:off x="320040" y="2560320"/>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rPr>
              <a:t>03</a:t>
            </a:r>
            <a:endParaRPr lang="en-US" sz="1300" dirty="0"/>
          </a:p>
        </p:txBody>
      </p:sp>
      <p:sp>
        <p:nvSpPr>
          <p:cNvPr id="13" name="Text 11"/>
          <p:cNvSpPr/>
          <p:nvPr/>
        </p:nvSpPr>
        <p:spPr>
          <a:xfrm>
            <a:off x="914400" y="2596896"/>
            <a:ext cx="3200400" cy="429768"/>
          </a:xfrm>
          <a:prstGeom prst="rect">
            <a:avLst/>
          </a:prstGeom>
          <a:noFill/>
          <a:ln/>
        </p:spPr>
        <p:txBody>
          <a:bodyPr wrap="square" rtlCol="0" anchor="ctr"/>
          <a:lstStyle/>
          <a:p>
            <a:pPr indent="0" marL="0">
              <a:buNone/>
            </a:pPr>
            <a:r>
              <a:rPr lang="en-US" sz="1300" dirty="0">
                <a:solidFill>
                  <a:srgbClr val="AACCBB"/>
                </a:solidFill>
              </a:rPr>
              <a:t>Objectifs Spécifiques</a:t>
            </a:r>
            <a:endParaRPr lang="en-US" sz="1300" dirty="0"/>
          </a:p>
        </p:txBody>
      </p:sp>
      <p:sp>
        <p:nvSpPr>
          <p:cNvPr id="14" name="Shape 12"/>
          <p:cNvSpPr/>
          <p:nvPr/>
        </p:nvSpPr>
        <p:spPr>
          <a:xfrm>
            <a:off x="320040" y="3291840"/>
            <a:ext cx="502920" cy="502920"/>
          </a:xfrm>
          <a:prstGeom prst="rect">
            <a:avLst/>
          </a:prstGeom>
          <a:solidFill>
            <a:srgbClr val="1A7A4A"/>
          </a:solidFill>
          <a:ln w="12700">
            <a:solidFill>
              <a:srgbClr val="1A7A4A"/>
            </a:solidFill>
            <a:prstDash val="solid"/>
          </a:ln>
        </p:spPr>
      </p:sp>
      <p:sp>
        <p:nvSpPr>
          <p:cNvPr id="15" name="Text 13"/>
          <p:cNvSpPr/>
          <p:nvPr/>
        </p:nvSpPr>
        <p:spPr>
          <a:xfrm>
            <a:off x="320040" y="3291840"/>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rPr>
              <a:t>04</a:t>
            </a:r>
            <a:endParaRPr lang="en-US" sz="1300" dirty="0"/>
          </a:p>
        </p:txBody>
      </p:sp>
      <p:sp>
        <p:nvSpPr>
          <p:cNvPr id="16" name="Text 14"/>
          <p:cNvSpPr/>
          <p:nvPr/>
        </p:nvSpPr>
        <p:spPr>
          <a:xfrm>
            <a:off x="914400" y="3328416"/>
            <a:ext cx="3200400" cy="429768"/>
          </a:xfrm>
          <a:prstGeom prst="rect">
            <a:avLst/>
          </a:prstGeom>
          <a:noFill/>
          <a:ln/>
        </p:spPr>
        <p:txBody>
          <a:bodyPr wrap="square" rtlCol="0" anchor="ctr"/>
          <a:lstStyle/>
          <a:p>
            <a:pPr indent="0" marL="0">
              <a:buNone/>
            </a:pPr>
            <a:r>
              <a:rPr lang="en-US" sz="1300" dirty="0">
                <a:solidFill>
                  <a:srgbClr val="AACCBB"/>
                </a:solidFill>
              </a:rPr>
              <a:t>Besoins Fonctionnels</a:t>
            </a:r>
            <a:endParaRPr lang="en-US" sz="1300" dirty="0"/>
          </a:p>
        </p:txBody>
      </p:sp>
      <p:sp>
        <p:nvSpPr>
          <p:cNvPr id="17" name="Shape 15"/>
          <p:cNvSpPr/>
          <p:nvPr/>
        </p:nvSpPr>
        <p:spPr>
          <a:xfrm>
            <a:off x="320040" y="4023360"/>
            <a:ext cx="502920" cy="502920"/>
          </a:xfrm>
          <a:prstGeom prst="rect">
            <a:avLst/>
          </a:prstGeom>
          <a:solidFill>
            <a:srgbClr val="1A7A4A"/>
          </a:solidFill>
          <a:ln w="12700">
            <a:solidFill>
              <a:srgbClr val="1A7A4A"/>
            </a:solidFill>
            <a:prstDash val="solid"/>
          </a:ln>
        </p:spPr>
      </p:sp>
      <p:sp>
        <p:nvSpPr>
          <p:cNvPr id="18" name="Text 16"/>
          <p:cNvSpPr/>
          <p:nvPr/>
        </p:nvSpPr>
        <p:spPr>
          <a:xfrm>
            <a:off x="320040" y="4023360"/>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rPr>
              <a:t>05</a:t>
            </a:r>
            <a:endParaRPr lang="en-US" sz="1300" dirty="0"/>
          </a:p>
        </p:txBody>
      </p:sp>
      <p:sp>
        <p:nvSpPr>
          <p:cNvPr id="19" name="Text 17"/>
          <p:cNvSpPr/>
          <p:nvPr/>
        </p:nvSpPr>
        <p:spPr>
          <a:xfrm>
            <a:off x="914400" y="4059936"/>
            <a:ext cx="3200400" cy="429768"/>
          </a:xfrm>
          <a:prstGeom prst="rect">
            <a:avLst/>
          </a:prstGeom>
          <a:noFill/>
          <a:ln/>
        </p:spPr>
        <p:txBody>
          <a:bodyPr wrap="square" rtlCol="0" anchor="ctr"/>
          <a:lstStyle/>
          <a:p>
            <a:pPr indent="0" marL="0">
              <a:buNone/>
            </a:pPr>
            <a:r>
              <a:rPr lang="en-US" sz="1300" dirty="0">
                <a:solidFill>
                  <a:srgbClr val="AACCBB"/>
                </a:solidFill>
              </a:rPr>
              <a:t>Besoins Non Fonctionnels</a:t>
            </a:r>
            <a:endParaRPr lang="en-US" sz="1300" dirty="0"/>
          </a:p>
        </p:txBody>
      </p:sp>
      <p:sp>
        <p:nvSpPr>
          <p:cNvPr id="20" name="Shape 18"/>
          <p:cNvSpPr/>
          <p:nvPr/>
        </p:nvSpPr>
        <p:spPr>
          <a:xfrm>
            <a:off x="4754880" y="1097280"/>
            <a:ext cx="502920" cy="502920"/>
          </a:xfrm>
          <a:prstGeom prst="rect">
            <a:avLst/>
          </a:prstGeom>
          <a:solidFill>
            <a:srgbClr val="1A7A4A"/>
          </a:solidFill>
          <a:ln w="12700">
            <a:solidFill>
              <a:srgbClr val="1A7A4A"/>
            </a:solidFill>
            <a:prstDash val="solid"/>
          </a:ln>
        </p:spPr>
      </p:sp>
      <p:sp>
        <p:nvSpPr>
          <p:cNvPr id="21" name="Text 19"/>
          <p:cNvSpPr/>
          <p:nvPr/>
        </p:nvSpPr>
        <p:spPr>
          <a:xfrm>
            <a:off x="4754880" y="1097280"/>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rPr>
              <a:t>06</a:t>
            </a:r>
            <a:endParaRPr lang="en-US" sz="1300" dirty="0"/>
          </a:p>
        </p:txBody>
      </p:sp>
      <p:sp>
        <p:nvSpPr>
          <p:cNvPr id="22" name="Text 20"/>
          <p:cNvSpPr/>
          <p:nvPr/>
        </p:nvSpPr>
        <p:spPr>
          <a:xfrm>
            <a:off x="5349240" y="1133856"/>
            <a:ext cx="3474720" cy="429768"/>
          </a:xfrm>
          <a:prstGeom prst="rect">
            <a:avLst/>
          </a:prstGeom>
          <a:noFill/>
          <a:ln/>
        </p:spPr>
        <p:txBody>
          <a:bodyPr wrap="square" rtlCol="0" anchor="ctr"/>
          <a:lstStyle/>
          <a:p>
            <a:pPr indent="0" marL="0">
              <a:buNone/>
            </a:pPr>
            <a:r>
              <a:rPr lang="en-US" sz="1300" dirty="0">
                <a:solidFill>
                  <a:srgbClr val="AACCBB"/>
                </a:solidFill>
              </a:rPr>
              <a:t>Étude Financière</a:t>
            </a:r>
            <a:endParaRPr lang="en-US" sz="1300" dirty="0"/>
          </a:p>
        </p:txBody>
      </p:sp>
      <p:sp>
        <p:nvSpPr>
          <p:cNvPr id="23" name="Shape 21"/>
          <p:cNvSpPr/>
          <p:nvPr/>
        </p:nvSpPr>
        <p:spPr>
          <a:xfrm>
            <a:off x="4754880" y="1828800"/>
            <a:ext cx="502920" cy="502920"/>
          </a:xfrm>
          <a:prstGeom prst="rect">
            <a:avLst/>
          </a:prstGeom>
          <a:solidFill>
            <a:srgbClr val="1A7A4A"/>
          </a:solidFill>
          <a:ln w="12700">
            <a:solidFill>
              <a:srgbClr val="1A7A4A"/>
            </a:solidFill>
            <a:prstDash val="solid"/>
          </a:ln>
        </p:spPr>
      </p:sp>
      <p:sp>
        <p:nvSpPr>
          <p:cNvPr id="24" name="Text 22"/>
          <p:cNvSpPr/>
          <p:nvPr/>
        </p:nvSpPr>
        <p:spPr>
          <a:xfrm>
            <a:off x="4754880" y="1828800"/>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rPr>
              <a:t>07</a:t>
            </a:r>
            <a:endParaRPr lang="en-US" sz="1300" dirty="0"/>
          </a:p>
        </p:txBody>
      </p:sp>
      <p:sp>
        <p:nvSpPr>
          <p:cNvPr id="25" name="Text 23"/>
          <p:cNvSpPr/>
          <p:nvPr/>
        </p:nvSpPr>
        <p:spPr>
          <a:xfrm>
            <a:off x="5349240" y="1865376"/>
            <a:ext cx="3474720" cy="429768"/>
          </a:xfrm>
          <a:prstGeom prst="rect">
            <a:avLst/>
          </a:prstGeom>
          <a:noFill/>
          <a:ln/>
        </p:spPr>
        <p:txBody>
          <a:bodyPr wrap="square" rtlCol="0" anchor="ctr"/>
          <a:lstStyle/>
          <a:p>
            <a:pPr indent="0" marL="0">
              <a:buNone/>
            </a:pPr>
            <a:r>
              <a:rPr lang="en-US" sz="1300" dirty="0">
                <a:solidFill>
                  <a:srgbClr val="AACCBB"/>
                </a:solidFill>
              </a:rPr>
              <a:t>Contraintes du Projet</a:t>
            </a:r>
            <a:endParaRPr lang="en-US" sz="1300" dirty="0"/>
          </a:p>
        </p:txBody>
      </p:sp>
      <p:sp>
        <p:nvSpPr>
          <p:cNvPr id="26" name="Shape 24"/>
          <p:cNvSpPr/>
          <p:nvPr/>
        </p:nvSpPr>
        <p:spPr>
          <a:xfrm>
            <a:off x="4754880" y="2560320"/>
            <a:ext cx="502920" cy="502920"/>
          </a:xfrm>
          <a:prstGeom prst="rect">
            <a:avLst/>
          </a:prstGeom>
          <a:solidFill>
            <a:srgbClr val="1A7A4A"/>
          </a:solidFill>
          <a:ln w="12700">
            <a:solidFill>
              <a:srgbClr val="1A7A4A"/>
            </a:solidFill>
            <a:prstDash val="solid"/>
          </a:ln>
        </p:spPr>
      </p:sp>
      <p:sp>
        <p:nvSpPr>
          <p:cNvPr id="27" name="Text 25"/>
          <p:cNvSpPr/>
          <p:nvPr/>
        </p:nvSpPr>
        <p:spPr>
          <a:xfrm>
            <a:off x="4754880" y="2560320"/>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rPr>
              <a:t>08</a:t>
            </a:r>
            <a:endParaRPr lang="en-US" sz="1300" dirty="0"/>
          </a:p>
        </p:txBody>
      </p:sp>
      <p:sp>
        <p:nvSpPr>
          <p:cNvPr id="28" name="Text 26"/>
          <p:cNvSpPr/>
          <p:nvPr/>
        </p:nvSpPr>
        <p:spPr>
          <a:xfrm>
            <a:off x="5349240" y="2596896"/>
            <a:ext cx="3474720" cy="429768"/>
          </a:xfrm>
          <a:prstGeom prst="rect">
            <a:avLst/>
          </a:prstGeom>
          <a:noFill/>
          <a:ln/>
        </p:spPr>
        <p:txBody>
          <a:bodyPr wrap="square" rtlCol="0" anchor="ctr"/>
          <a:lstStyle/>
          <a:p>
            <a:pPr indent="0" marL="0">
              <a:buNone/>
            </a:pPr>
            <a:r>
              <a:rPr lang="en-US" sz="1300" dirty="0">
                <a:solidFill>
                  <a:srgbClr val="AACCBB"/>
                </a:solidFill>
              </a:rPr>
              <a:t>Résultats &amp; Discussion</a:t>
            </a:r>
            <a:endParaRPr lang="en-US" sz="1300" dirty="0"/>
          </a:p>
        </p:txBody>
      </p:sp>
      <p:sp>
        <p:nvSpPr>
          <p:cNvPr id="29" name="Shape 27"/>
          <p:cNvSpPr/>
          <p:nvPr/>
        </p:nvSpPr>
        <p:spPr>
          <a:xfrm>
            <a:off x="4754880" y="3291840"/>
            <a:ext cx="502920" cy="502920"/>
          </a:xfrm>
          <a:prstGeom prst="rect">
            <a:avLst/>
          </a:prstGeom>
          <a:solidFill>
            <a:srgbClr val="1A7A4A"/>
          </a:solidFill>
          <a:ln w="12700">
            <a:solidFill>
              <a:srgbClr val="1A7A4A"/>
            </a:solidFill>
            <a:prstDash val="solid"/>
          </a:ln>
        </p:spPr>
      </p:sp>
      <p:sp>
        <p:nvSpPr>
          <p:cNvPr id="30" name="Text 28"/>
          <p:cNvSpPr/>
          <p:nvPr/>
        </p:nvSpPr>
        <p:spPr>
          <a:xfrm>
            <a:off x="4754880" y="3291840"/>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rPr>
              <a:t>09</a:t>
            </a:r>
            <a:endParaRPr lang="en-US" sz="1300" dirty="0"/>
          </a:p>
        </p:txBody>
      </p:sp>
      <p:sp>
        <p:nvSpPr>
          <p:cNvPr id="31" name="Text 29"/>
          <p:cNvSpPr/>
          <p:nvPr/>
        </p:nvSpPr>
        <p:spPr>
          <a:xfrm>
            <a:off x="5349240" y="3328416"/>
            <a:ext cx="3474720" cy="429768"/>
          </a:xfrm>
          <a:prstGeom prst="rect">
            <a:avLst/>
          </a:prstGeom>
          <a:noFill/>
          <a:ln/>
        </p:spPr>
        <p:txBody>
          <a:bodyPr wrap="square" rtlCol="0" anchor="ctr"/>
          <a:lstStyle/>
          <a:p>
            <a:pPr indent="0" marL="0">
              <a:buNone/>
            </a:pPr>
            <a:r>
              <a:rPr lang="en-US" sz="1300" dirty="0">
                <a:solidFill>
                  <a:srgbClr val="AACCBB"/>
                </a:solidFill>
              </a:rPr>
              <a:t>Conclusion &amp; Perspectives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AF4"/>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F2A1E"/>
          </a:solidFill>
          <a:ln w="12700">
            <a:solidFill>
              <a:srgbClr val="0F2A1E"/>
            </a:solidFill>
            <a:prstDash val="solid"/>
          </a:ln>
        </p:spPr>
      </p:sp>
      <p:sp>
        <p:nvSpPr>
          <p:cNvPr id="3" name="Text 1"/>
          <p:cNvSpPr/>
          <p:nvPr/>
        </p:nvSpPr>
        <p:spPr>
          <a:xfrm>
            <a:off x="457200" y="0"/>
            <a:ext cx="8229600" cy="960120"/>
          </a:xfrm>
          <a:prstGeom prst="rect">
            <a:avLst/>
          </a:prstGeom>
          <a:noFill/>
          <a:ln/>
        </p:spPr>
        <p:txBody>
          <a:bodyPr wrap="square" rtlCol="0" anchor="ctr"/>
          <a:lstStyle/>
          <a:p>
            <a:pPr indent="0" marL="0">
              <a:buNone/>
            </a:pPr>
            <a:r>
              <a:rPr lang="en-US" sz="2200" b="1" dirty="0">
                <a:solidFill>
                  <a:srgbClr val="FFFFFF"/>
                </a:solidFill>
              </a:rPr>
              <a:t>Contexte, Problématique &amp; Tentative de Solution</a:t>
            </a:r>
            <a:endParaRPr lang="en-US" sz="2200" dirty="0"/>
          </a:p>
        </p:txBody>
      </p:sp>
      <p:sp>
        <p:nvSpPr>
          <p:cNvPr id="4" name="Shape 2"/>
          <p:cNvSpPr/>
          <p:nvPr/>
        </p:nvSpPr>
        <p:spPr>
          <a:xfrm>
            <a:off x="228600" y="1097280"/>
            <a:ext cx="4114800" cy="1645920"/>
          </a:xfrm>
          <a:prstGeom prst="rect">
            <a:avLst/>
          </a:prstGeom>
          <a:solidFill>
            <a:srgbClr val="FFFFFF"/>
          </a:solidFill>
          <a:ln w="12700">
            <a:solidFill>
              <a:srgbClr val="1A7A4A"/>
            </a:solidFill>
            <a:prstDash val="solid"/>
          </a:ln>
        </p:spPr>
      </p:sp>
      <p:sp>
        <p:nvSpPr>
          <p:cNvPr id="5" name="Shape 3"/>
          <p:cNvSpPr/>
          <p:nvPr/>
        </p:nvSpPr>
        <p:spPr>
          <a:xfrm>
            <a:off x="228600" y="1097280"/>
            <a:ext cx="4114800" cy="411480"/>
          </a:xfrm>
          <a:prstGeom prst="rect">
            <a:avLst/>
          </a:prstGeom>
          <a:solidFill>
            <a:srgbClr val="1A7A4A"/>
          </a:solidFill>
          <a:ln w="12700">
            <a:solidFill>
              <a:srgbClr val="1A7A4A"/>
            </a:solidFill>
            <a:prstDash val="solid"/>
          </a:ln>
        </p:spPr>
      </p:sp>
      <p:sp>
        <p:nvSpPr>
          <p:cNvPr id="6" name="Text 4"/>
          <p:cNvSpPr/>
          <p:nvPr/>
        </p:nvSpPr>
        <p:spPr>
          <a:xfrm>
            <a:off x="320040" y="1097280"/>
            <a:ext cx="3931920" cy="411480"/>
          </a:xfrm>
          <a:prstGeom prst="rect">
            <a:avLst/>
          </a:prstGeom>
          <a:noFill/>
          <a:ln/>
        </p:spPr>
        <p:txBody>
          <a:bodyPr wrap="square" rtlCol="0" anchor="ctr"/>
          <a:lstStyle/>
          <a:p>
            <a:pPr indent="0" marL="0">
              <a:buNone/>
            </a:pPr>
            <a:r>
              <a:rPr lang="en-US" sz="1400" b="1" dirty="0">
                <a:solidFill>
                  <a:srgbClr val="FFFFFF"/>
                </a:solidFill>
              </a:rPr>
              <a:t>🌍  Contexte</a:t>
            </a:r>
            <a:endParaRPr lang="en-US" sz="1400" dirty="0"/>
          </a:p>
        </p:txBody>
      </p:sp>
      <p:sp>
        <p:nvSpPr>
          <p:cNvPr id="7" name="Text 5"/>
          <p:cNvSpPr/>
          <p:nvPr/>
        </p:nvSpPr>
        <p:spPr>
          <a:xfrm>
            <a:off x="320040" y="1554480"/>
            <a:ext cx="3931920" cy="1143000"/>
          </a:xfrm>
          <a:prstGeom prst="rect">
            <a:avLst/>
          </a:prstGeom>
          <a:noFill/>
          <a:ln/>
        </p:spPr>
        <p:txBody>
          <a:bodyPr wrap="square" rtlCol="0" anchor="ctr"/>
          <a:lstStyle/>
          <a:p>
            <a:pPr indent="0" marL="0">
              <a:buNone/>
            </a:pPr>
            <a:r>
              <a:rPr lang="en-US" sz="1150" dirty="0">
                <a:solidFill>
                  <a:srgbClr val="2E5740"/>
                </a:solidFill>
              </a:rPr>
              <a:t>Le Cameroun est un acteur majeur du cacao en Afrique. Malgré son potentiel, les producteurs souffrent d'un manque d'accès aux technologies modernes de diagnostic agricole et aux informations météorologiques fiables.</a:t>
            </a:r>
            <a:endParaRPr lang="en-US" sz="1150" dirty="0"/>
          </a:p>
        </p:txBody>
      </p:sp>
      <p:sp>
        <p:nvSpPr>
          <p:cNvPr id="8" name="Shape 6"/>
          <p:cNvSpPr/>
          <p:nvPr/>
        </p:nvSpPr>
        <p:spPr>
          <a:xfrm>
            <a:off x="4754880" y="1097280"/>
            <a:ext cx="4114800" cy="1645920"/>
          </a:xfrm>
          <a:prstGeom prst="rect">
            <a:avLst/>
          </a:prstGeom>
          <a:solidFill>
            <a:srgbClr val="FFFFFF"/>
          </a:solidFill>
          <a:ln w="12700">
            <a:solidFill>
              <a:srgbClr val="F4A015"/>
            </a:solidFill>
            <a:prstDash val="solid"/>
          </a:ln>
        </p:spPr>
      </p:sp>
      <p:sp>
        <p:nvSpPr>
          <p:cNvPr id="9" name="Shape 7"/>
          <p:cNvSpPr/>
          <p:nvPr/>
        </p:nvSpPr>
        <p:spPr>
          <a:xfrm>
            <a:off x="4754880" y="1097280"/>
            <a:ext cx="4114800" cy="411480"/>
          </a:xfrm>
          <a:prstGeom prst="rect">
            <a:avLst/>
          </a:prstGeom>
          <a:solidFill>
            <a:srgbClr val="F4A015"/>
          </a:solidFill>
          <a:ln w="12700">
            <a:solidFill>
              <a:srgbClr val="F4A015"/>
            </a:solidFill>
            <a:prstDash val="solid"/>
          </a:ln>
        </p:spPr>
      </p:sp>
      <p:sp>
        <p:nvSpPr>
          <p:cNvPr id="10" name="Text 8"/>
          <p:cNvSpPr/>
          <p:nvPr/>
        </p:nvSpPr>
        <p:spPr>
          <a:xfrm>
            <a:off x="4846320" y="1097280"/>
            <a:ext cx="3931920" cy="411480"/>
          </a:xfrm>
          <a:prstGeom prst="rect">
            <a:avLst/>
          </a:prstGeom>
          <a:noFill/>
          <a:ln/>
        </p:spPr>
        <p:txBody>
          <a:bodyPr wrap="square" rtlCol="0" anchor="ctr"/>
          <a:lstStyle/>
          <a:p>
            <a:pPr indent="0" marL="0">
              <a:buNone/>
            </a:pPr>
            <a:r>
              <a:rPr lang="en-US" sz="1400" b="1" dirty="0">
                <a:solidFill>
                  <a:srgbClr val="FFFFFF"/>
                </a:solidFill>
              </a:rPr>
              <a:t>⚠️  Problématique</a:t>
            </a:r>
            <a:endParaRPr lang="en-US" sz="1400" dirty="0"/>
          </a:p>
        </p:txBody>
      </p:sp>
      <p:sp>
        <p:nvSpPr>
          <p:cNvPr id="11" name="Text 9"/>
          <p:cNvSpPr/>
          <p:nvPr/>
        </p:nvSpPr>
        <p:spPr>
          <a:xfrm>
            <a:off x="4846320" y="1554480"/>
            <a:ext cx="3931920" cy="1143000"/>
          </a:xfrm>
          <a:prstGeom prst="rect">
            <a:avLst/>
          </a:prstGeom>
          <a:noFill/>
          <a:ln/>
        </p:spPr>
        <p:txBody>
          <a:bodyPr wrap="square" rtlCol="0" anchor="ctr"/>
          <a:lstStyle/>
          <a:p>
            <a:pPr indent="0" marL="0">
              <a:buNone/>
            </a:pPr>
            <a:r>
              <a:rPr lang="en-US" sz="1150" dirty="0">
                <a:solidFill>
                  <a:srgbClr val="2E5740"/>
                </a:solidFill>
              </a:rPr>
              <a:t>Comment permettre aux agriculteurs camerounais, souvent dans des zones sans connexion stable, d'identifier rapidement les maladies de leur cacao et d'accéder à des conseils adaptés ?</a:t>
            </a:r>
            <a:endParaRPr lang="en-US" sz="1150" dirty="0"/>
          </a:p>
        </p:txBody>
      </p:sp>
      <p:sp>
        <p:nvSpPr>
          <p:cNvPr id="12" name="Shape 10"/>
          <p:cNvSpPr/>
          <p:nvPr/>
        </p:nvSpPr>
        <p:spPr>
          <a:xfrm>
            <a:off x="228600" y="2880360"/>
            <a:ext cx="8641080" cy="1920240"/>
          </a:xfrm>
          <a:prstGeom prst="rect">
            <a:avLst/>
          </a:prstGeom>
          <a:solidFill>
            <a:srgbClr val="0F2A1E"/>
          </a:solidFill>
          <a:ln w="12700">
            <a:solidFill>
              <a:srgbClr val="0F2A1E"/>
            </a:solidFill>
            <a:prstDash val="solid"/>
          </a:ln>
        </p:spPr>
      </p:sp>
      <p:sp>
        <p:nvSpPr>
          <p:cNvPr id="13" name="Text 11"/>
          <p:cNvSpPr/>
          <p:nvPr/>
        </p:nvSpPr>
        <p:spPr>
          <a:xfrm>
            <a:off x="411480" y="2971800"/>
            <a:ext cx="8229600" cy="411480"/>
          </a:xfrm>
          <a:prstGeom prst="rect">
            <a:avLst/>
          </a:prstGeom>
          <a:noFill/>
          <a:ln/>
        </p:spPr>
        <p:txBody>
          <a:bodyPr wrap="square" rtlCol="0" anchor="ctr"/>
          <a:lstStyle/>
          <a:p>
            <a:pPr indent="0" marL="0">
              <a:buNone/>
            </a:pPr>
            <a:r>
              <a:rPr lang="en-US" sz="1500" b="1" dirty="0">
                <a:solidFill>
                  <a:srgbClr val="4CAF8A"/>
                </a:solidFill>
              </a:rPr>
              <a:t>💡  Tentative de Solution : Smart Scan AI</a:t>
            </a:r>
            <a:endParaRPr lang="en-US" sz="1500" dirty="0"/>
          </a:p>
        </p:txBody>
      </p:sp>
      <p:pic>
        <p:nvPicPr>
          <p:cNvPr id="14" name="Image 0" descr="preencoded.png">    </p:cNvPr>
          <p:cNvPicPr>
            <a:picLocks noChangeAspect="1"/>
          </p:cNvPicPr>
          <p:nvPr/>
        </p:nvPicPr>
        <p:blipFill>
          <a:blip r:embed="rId1"/>
          <a:stretch>
            <a:fillRect/>
          </a:stretch>
        </p:blipFill>
        <p:spPr>
          <a:xfrm>
            <a:off x="411480" y="3456432"/>
            <a:ext cx="256032" cy="256032"/>
          </a:xfrm>
          <a:prstGeom prst="rect">
            <a:avLst/>
          </a:prstGeom>
        </p:spPr>
      </p:pic>
      <p:sp>
        <p:nvSpPr>
          <p:cNvPr id="15" name="Text 12"/>
          <p:cNvSpPr/>
          <p:nvPr/>
        </p:nvSpPr>
        <p:spPr>
          <a:xfrm>
            <a:off x="777240" y="3429000"/>
            <a:ext cx="7955280" cy="320040"/>
          </a:xfrm>
          <a:prstGeom prst="rect">
            <a:avLst/>
          </a:prstGeom>
          <a:noFill/>
          <a:ln/>
        </p:spPr>
        <p:txBody>
          <a:bodyPr wrap="square" rtlCol="0" anchor="ctr"/>
          <a:lstStyle/>
          <a:p>
            <a:pPr indent="0" marL="0">
              <a:buNone/>
            </a:pPr>
            <a:r>
              <a:rPr lang="en-US" sz="1200" dirty="0">
                <a:solidFill>
                  <a:srgbClr val="AACCBB"/>
                </a:solidFill>
              </a:rPr>
              <a:t>Diagnostic IA embarqué via un système expert (offline) basé sur un arbre de décision intelligent</a:t>
            </a:r>
            <a:endParaRPr lang="en-US" sz="1200" dirty="0"/>
          </a:p>
        </p:txBody>
      </p:sp>
      <p:pic>
        <p:nvPicPr>
          <p:cNvPr id="16" name="Image 1" descr="preencoded.png">    </p:cNvPr>
          <p:cNvPicPr>
            <a:picLocks noChangeAspect="1"/>
          </p:cNvPicPr>
          <p:nvPr/>
        </p:nvPicPr>
        <p:blipFill>
          <a:blip r:embed="rId2"/>
          <a:stretch>
            <a:fillRect/>
          </a:stretch>
        </p:blipFill>
        <p:spPr>
          <a:xfrm>
            <a:off x="411480" y="3840480"/>
            <a:ext cx="256032" cy="256032"/>
          </a:xfrm>
          <a:prstGeom prst="rect">
            <a:avLst/>
          </a:prstGeom>
        </p:spPr>
      </p:pic>
      <p:sp>
        <p:nvSpPr>
          <p:cNvPr id="17" name="Text 13"/>
          <p:cNvSpPr/>
          <p:nvPr/>
        </p:nvSpPr>
        <p:spPr>
          <a:xfrm>
            <a:off x="777240" y="3813048"/>
            <a:ext cx="7955280" cy="320040"/>
          </a:xfrm>
          <a:prstGeom prst="rect">
            <a:avLst/>
          </a:prstGeom>
          <a:noFill/>
          <a:ln/>
        </p:spPr>
        <p:txBody>
          <a:bodyPr wrap="square" rtlCol="0" anchor="ctr"/>
          <a:lstStyle/>
          <a:p>
            <a:pPr indent="0" marL="0">
              <a:buNone/>
            </a:pPr>
            <a:r>
              <a:rPr lang="en-US" sz="1200" dirty="0">
                <a:solidFill>
                  <a:srgbClr val="AACCBB"/>
                </a:solidFill>
              </a:rPr>
              <a:t>Météo agricole sur 7 jours via l'API Open-Meteo localisée par GPS du smartphone</a:t>
            </a:r>
            <a:endParaRPr lang="en-US" sz="1200" dirty="0"/>
          </a:p>
        </p:txBody>
      </p:sp>
      <p:pic>
        <p:nvPicPr>
          <p:cNvPr id="18" name="Image 2" descr="preencoded.png">    </p:cNvPr>
          <p:cNvPicPr>
            <a:picLocks noChangeAspect="1"/>
          </p:cNvPicPr>
          <p:nvPr/>
        </p:nvPicPr>
        <p:blipFill>
          <a:blip r:embed="rId3"/>
          <a:stretch>
            <a:fillRect/>
          </a:stretch>
        </p:blipFill>
        <p:spPr>
          <a:xfrm>
            <a:off x="411480" y="4224528"/>
            <a:ext cx="256032" cy="256032"/>
          </a:xfrm>
          <a:prstGeom prst="rect">
            <a:avLst/>
          </a:prstGeom>
        </p:spPr>
      </p:pic>
      <p:sp>
        <p:nvSpPr>
          <p:cNvPr id="19" name="Text 14"/>
          <p:cNvSpPr/>
          <p:nvPr/>
        </p:nvSpPr>
        <p:spPr>
          <a:xfrm>
            <a:off x="777240" y="4197096"/>
            <a:ext cx="7955280" cy="320040"/>
          </a:xfrm>
          <a:prstGeom prst="rect">
            <a:avLst/>
          </a:prstGeom>
          <a:noFill/>
          <a:ln/>
        </p:spPr>
        <p:txBody>
          <a:bodyPr wrap="square" rtlCol="0" anchor="ctr"/>
          <a:lstStyle/>
          <a:p>
            <a:pPr indent="0" marL="0">
              <a:buNone/>
            </a:pPr>
            <a:r>
              <a:rPr lang="en-US" sz="1200" dirty="0">
                <a:solidFill>
                  <a:srgbClr val="AACCBB"/>
                </a:solidFill>
              </a:rPr>
              <a:t>Catalogue de bonnes pratiques agricoles disponibles sans internet (mode hors ligne)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AF4"/>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F2A1E"/>
          </a:solidFill>
          <a:ln w="12700">
            <a:solidFill>
              <a:srgbClr val="0F2A1E"/>
            </a:solidFill>
            <a:prstDash val="solid"/>
          </a:ln>
        </p:spPr>
      </p:sp>
      <p:sp>
        <p:nvSpPr>
          <p:cNvPr id="3" name="Text 1"/>
          <p:cNvSpPr/>
          <p:nvPr/>
        </p:nvSpPr>
        <p:spPr>
          <a:xfrm>
            <a:off x="457200" y="0"/>
            <a:ext cx="8229600" cy="960120"/>
          </a:xfrm>
          <a:prstGeom prst="rect">
            <a:avLst/>
          </a:prstGeom>
          <a:noFill/>
          <a:ln/>
        </p:spPr>
        <p:txBody>
          <a:bodyPr wrap="square" rtlCol="0" anchor="ctr"/>
          <a:lstStyle/>
          <a:p>
            <a:pPr indent="0" marL="0">
              <a:buNone/>
            </a:pPr>
            <a:r>
              <a:rPr lang="en-US" sz="3000" b="1" dirty="0">
                <a:solidFill>
                  <a:srgbClr val="FFFFFF"/>
                </a:solidFill>
              </a:rPr>
              <a:t>Objectif Général du Projet</a:t>
            </a:r>
            <a:endParaRPr lang="en-US" sz="3000" dirty="0"/>
          </a:p>
        </p:txBody>
      </p:sp>
      <p:pic>
        <p:nvPicPr>
          <p:cNvPr id="4" name="Image 0" descr="preencoded.png">    </p:cNvPr>
          <p:cNvPicPr>
            <a:picLocks noChangeAspect="1"/>
          </p:cNvPicPr>
          <p:nvPr/>
        </p:nvPicPr>
        <p:blipFill>
          <a:blip r:embed="rId1"/>
          <a:stretch>
            <a:fillRect/>
          </a:stretch>
        </p:blipFill>
        <p:spPr>
          <a:xfrm>
            <a:off x="8321040" y="201168"/>
            <a:ext cx="548640" cy="548640"/>
          </a:xfrm>
          <a:prstGeom prst="rect">
            <a:avLst/>
          </a:prstGeom>
        </p:spPr>
      </p:pic>
      <p:sp>
        <p:nvSpPr>
          <p:cNvPr id="5" name="Shape 2"/>
          <p:cNvSpPr/>
          <p:nvPr/>
        </p:nvSpPr>
        <p:spPr>
          <a:xfrm>
            <a:off x="457200" y="1188720"/>
            <a:ext cx="8229600" cy="2286000"/>
          </a:xfrm>
          <a:prstGeom prst="rect">
            <a:avLst/>
          </a:prstGeom>
          <a:solidFill>
            <a:srgbClr val="0F2A1E"/>
          </a:solidFill>
          <a:ln w="12700">
            <a:solidFill>
              <a:srgbClr val="27AE60"/>
            </a:solidFill>
            <a:prstDash val="solid"/>
          </a:ln>
        </p:spPr>
      </p:sp>
      <p:sp>
        <p:nvSpPr>
          <p:cNvPr id="6" name="Shape 3"/>
          <p:cNvSpPr/>
          <p:nvPr/>
        </p:nvSpPr>
        <p:spPr>
          <a:xfrm>
            <a:off x="457200" y="1188720"/>
            <a:ext cx="91440" cy="2286000"/>
          </a:xfrm>
          <a:prstGeom prst="rect">
            <a:avLst/>
          </a:prstGeom>
          <a:solidFill>
            <a:srgbClr val="27AE60"/>
          </a:solidFill>
          <a:ln w="12700">
            <a:solidFill>
              <a:srgbClr val="27AE60"/>
            </a:solidFill>
            <a:prstDash val="solid"/>
          </a:ln>
        </p:spPr>
      </p:sp>
      <p:sp>
        <p:nvSpPr>
          <p:cNvPr id="7" name="Text 4"/>
          <p:cNvSpPr/>
          <p:nvPr/>
        </p:nvSpPr>
        <p:spPr>
          <a:xfrm>
            <a:off x="731520" y="1280160"/>
            <a:ext cx="7772400" cy="2103120"/>
          </a:xfrm>
          <a:prstGeom prst="rect">
            <a:avLst/>
          </a:prstGeom>
          <a:noFill/>
          <a:ln/>
        </p:spPr>
        <p:txBody>
          <a:bodyPr wrap="square" rtlCol="0" anchor="ctr"/>
          <a:lstStyle/>
          <a:p>
            <a:pPr algn="l" indent="0" marL="0">
              <a:buNone/>
            </a:pPr>
            <a:r>
              <a:rPr lang="en-US" sz="1500" dirty="0">
                <a:solidFill>
                  <a:srgbClr val="FFFFFF"/>
                </a:solidFill>
              </a:rPr>
              <a:t>Concevoir et développer une application mobile innovante, accessible hors ligne, permettant aux producteurs de cacao camerounais de diagnostiquer les maladies de leurs plants, de recevoir des recommandations agronomiques personnalisées et de consulter les prévisions météorologiques locales — afin de réduire significativement les pertes agricoles.</a:t>
            </a:r>
            <a:endParaRPr lang="en-US" sz="1500" dirty="0"/>
          </a:p>
        </p:txBody>
      </p:sp>
      <p:sp>
        <p:nvSpPr>
          <p:cNvPr id="8" name="Shape 5"/>
          <p:cNvSpPr/>
          <p:nvPr/>
        </p:nvSpPr>
        <p:spPr>
          <a:xfrm>
            <a:off x="1371600" y="3749040"/>
            <a:ext cx="6400800" cy="1097280"/>
          </a:xfrm>
          <a:prstGeom prst="rect">
            <a:avLst/>
          </a:prstGeom>
          <a:solidFill>
            <a:srgbClr val="1A7A4A"/>
          </a:solidFill>
          <a:ln w="12700">
            <a:solidFill>
              <a:srgbClr val="1A7A4A"/>
            </a:solidFill>
            <a:prstDash val="solid"/>
          </a:ln>
        </p:spPr>
      </p:sp>
      <p:sp>
        <p:nvSpPr>
          <p:cNvPr id="9" name="Text 6"/>
          <p:cNvSpPr/>
          <p:nvPr/>
        </p:nvSpPr>
        <p:spPr>
          <a:xfrm>
            <a:off x="1371600" y="3749040"/>
            <a:ext cx="6400800" cy="1097280"/>
          </a:xfrm>
          <a:prstGeom prst="rect">
            <a:avLst/>
          </a:prstGeom>
          <a:noFill/>
          <a:ln/>
        </p:spPr>
        <p:txBody>
          <a:bodyPr wrap="square" rtlCol="0" anchor="ctr"/>
          <a:lstStyle/>
          <a:p>
            <a:pPr algn="ctr" indent="0" marL="0">
              <a:buNone/>
            </a:pPr>
            <a:r>
              <a:rPr lang="en-US" sz="1400" b="1" dirty="0">
                <a:solidFill>
                  <a:srgbClr val="FFFFFF"/>
                </a:solidFill>
              </a:rPr>
              <a:t>🎯  Impact visé : Réduction des pertes agricoles jusqu'à 30% grâce à un diagnostic précoce et des conseils adaptés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AF4"/>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F2A1E"/>
          </a:solidFill>
          <a:ln w="12700">
            <a:solidFill>
              <a:srgbClr val="0F2A1E"/>
            </a:solidFill>
            <a:prstDash val="solid"/>
          </a:ln>
        </p:spPr>
      </p:sp>
      <p:sp>
        <p:nvSpPr>
          <p:cNvPr id="3" name="Text 1"/>
          <p:cNvSpPr/>
          <p:nvPr/>
        </p:nvSpPr>
        <p:spPr>
          <a:xfrm>
            <a:off x="457200" y="0"/>
            <a:ext cx="8229600" cy="960120"/>
          </a:xfrm>
          <a:prstGeom prst="rect">
            <a:avLst/>
          </a:prstGeom>
          <a:noFill/>
          <a:ln/>
        </p:spPr>
        <p:txBody>
          <a:bodyPr wrap="square" rtlCol="0" anchor="ctr"/>
          <a:lstStyle/>
          <a:p>
            <a:pPr indent="0" marL="0">
              <a:buNone/>
            </a:pPr>
            <a:r>
              <a:rPr lang="en-US" sz="2800" b="1" dirty="0">
                <a:solidFill>
                  <a:srgbClr val="FFFFFF"/>
                </a:solidFill>
              </a:rPr>
              <a:t>Objectifs Spécifiques du Projet</a:t>
            </a:r>
            <a:endParaRPr lang="en-US" sz="2800" dirty="0"/>
          </a:p>
        </p:txBody>
      </p:sp>
      <p:sp>
        <p:nvSpPr>
          <p:cNvPr id="4" name="Shape 2"/>
          <p:cNvSpPr/>
          <p:nvPr/>
        </p:nvSpPr>
        <p:spPr>
          <a:xfrm>
            <a:off x="228600" y="1097280"/>
            <a:ext cx="4251960" cy="1188720"/>
          </a:xfrm>
          <a:prstGeom prst="rect">
            <a:avLst/>
          </a:prstGeom>
          <a:solidFill>
            <a:srgbClr val="FFFFFF"/>
          </a:solidFill>
          <a:ln w="12700">
            <a:solidFill>
              <a:srgbClr val="E0EDE5"/>
            </a:solidFill>
            <a:prstDash val="solid"/>
          </a:ln>
          <a:effectLst>
            <a:outerShdw sx="100000" sy="100000" kx="0" ky="0" algn="bl" rotWithShape="0" blurRad="76200" dist="25400" dir="8100000">
              <a:srgbClr val="000000">
                <a:alpha val="7000"/>
              </a:srgbClr>
            </a:outerShdw>
          </a:effectLst>
        </p:spPr>
      </p:sp>
      <p:pic>
        <p:nvPicPr>
          <p:cNvPr id="5" name="Image 0" descr="preencoded.png">    </p:cNvPr>
          <p:cNvPicPr>
            <a:picLocks noChangeAspect="1"/>
          </p:cNvPicPr>
          <p:nvPr/>
        </p:nvPicPr>
        <p:blipFill>
          <a:blip r:embed="rId1"/>
          <a:stretch>
            <a:fillRect/>
          </a:stretch>
        </p:blipFill>
        <p:spPr>
          <a:xfrm>
            <a:off x="365760" y="1444752"/>
            <a:ext cx="411480" cy="411480"/>
          </a:xfrm>
          <a:prstGeom prst="rect">
            <a:avLst/>
          </a:prstGeom>
        </p:spPr>
      </p:pic>
      <p:sp>
        <p:nvSpPr>
          <p:cNvPr id="6" name="Text 3"/>
          <p:cNvSpPr/>
          <p:nvPr/>
        </p:nvSpPr>
        <p:spPr>
          <a:xfrm>
            <a:off x="868680" y="1170432"/>
            <a:ext cx="3474720" cy="365760"/>
          </a:xfrm>
          <a:prstGeom prst="rect">
            <a:avLst/>
          </a:prstGeom>
          <a:noFill/>
          <a:ln/>
        </p:spPr>
        <p:txBody>
          <a:bodyPr wrap="square" rtlCol="0" anchor="ctr"/>
          <a:lstStyle/>
          <a:p>
            <a:pPr indent="0" marL="0">
              <a:buNone/>
            </a:pPr>
            <a:r>
              <a:rPr lang="en-US" sz="1300" b="1" dirty="0">
                <a:solidFill>
                  <a:srgbClr val="0D1F17"/>
                </a:solidFill>
              </a:rPr>
              <a:t>Authentification sécurisée</a:t>
            </a:r>
            <a:endParaRPr lang="en-US" sz="1300" dirty="0"/>
          </a:p>
        </p:txBody>
      </p:sp>
      <p:sp>
        <p:nvSpPr>
          <p:cNvPr id="7" name="Text 4"/>
          <p:cNvSpPr/>
          <p:nvPr/>
        </p:nvSpPr>
        <p:spPr>
          <a:xfrm>
            <a:off x="868680" y="1536192"/>
            <a:ext cx="3520440" cy="685800"/>
          </a:xfrm>
          <a:prstGeom prst="rect">
            <a:avLst/>
          </a:prstGeom>
          <a:noFill/>
          <a:ln/>
        </p:spPr>
        <p:txBody>
          <a:bodyPr wrap="square" rtlCol="0" anchor="ctr"/>
          <a:lstStyle/>
          <a:p>
            <a:pPr indent="0" marL="0">
              <a:buNone/>
            </a:pPr>
            <a:r>
              <a:rPr lang="en-US" sz="1050" dirty="0">
                <a:solidFill>
                  <a:srgbClr val="2E5740"/>
                </a:solidFill>
              </a:rPr>
              <a:t>Implémenter un système d'inscription et de connexion sécurisé via Firebase Authentication (email/mot de passe).</a:t>
            </a:r>
            <a:endParaRPr lang="en-US" sz="1050" dirty="0"/>
          </a:p>
        </p:txBody>
      </p:sp>
      <p:sp>
        <p:nvSpPr>
          <p:cNvPr id="8" name="Shape 5"/>
          <p:cNvSpPr/>
          <p:nvPr/>
        </p:nvSpPr>
        <p:spPr>
          <a:xfrm>
            <a:off x="4709160" y="1097280"/>
            <a:ext cx="4251960" cy="1188720"/>
          </a:xfrm>
          <a:prstGeom prst="rect">
            <a:avLst/>
          </a:prstGeom>
          <a:solidFill>
            <a:srgbClr val="FFFFFF"/>
          </a:solidFill>
          <a:ln w="12700">
            <a:solidFill>
              <a:srgbClr val="E0EDE5"/>
            </a:solidFill>
            <a:prstDash val="solid"/>
          </a:ln>
          <a:effectLst>
            <a:outerShdw sx="100000" sy="100000" kx="0" ky="0" algn="bl" rotWithShape="0" blurRad="76200" dist="25400" dir="8100000">
              <a:srgbClr val="000000">
                <a:alpha val="7000"/>
              </a:srgbClr>
            </a:outerShdw>
          </a:effectLst>
        </p:spPr>
      </p:sp>
      <p:pic>
        <p:nvPicPr>
          <p:cNvPr id="9" name="Image 1" descr="preencoded.png">    </p:cNvPr>
          <p:cNvPicPr>
            <a:picLocks noChangeAspect="1"/>
          </p:cNvPicPr>
          <p:nvPr/>
        </p:nvPicPr>
        <p:blipFill>
          <a:blip r:embed="rId2"/>
          <a:stretch>
            <a:fillRect/>
          </a:stretch>
        </p:blipFill>
        <p:spPr>
          <a:xfrm>
            <a:off x="4846320" y="1444752"/>
            <a:ext cx="411480" cy="411480"/>
          </a:xfrm>
          <a:prstGeom prst="rect">
            <a:avLst/>
          </a:prstGeom>
        </p:spPr>
      </p:pic>
      <p:sp>
        <p:nvSpPr>
          <p:cNvPr id="10" name="Text 6"/>
          <p:cNvSpPr/>
          <p:nvPr/>
        </p:nvSpPr>
        <p:spPr>
          <a:xfrm>
            <a:off x="5349240" y="1170432"/>
            <a:ext cx="3474720" cy="365760"/>
          </a:xfrm>
          <a:prstGeom prst="rect">
            <a:avLst/>
          </a:prstGeom>
          <a:noFill/>
          <a:ln/>
        </p:spPr>
        <p:txBody>
          <a:bodyPr wrap="square" rtlCol="0" anchor="ctr"/>
          <a:lstStyle/>
          <a:p>
            <a:pPr indent="0" marL="0">
              <a:buNone/>
            </a:pPr>
            <a:r>
              <a:rPr lang="en-US" sz="1300" b="1" dirty="0">
                <a:solidFill>
                  <a:srgbClr val="0D1F17"/>
                </a:solidFill>
              </a:rPr>
              <a:t>Diagnostic intelligent</a:t>
            </a:r>
            <a:endParaRPr lang="en-US" sz="1300" dirty="0"/>
          </a:p>
        </p:txBody>
      </p:sp>
      <p:sp>
        <p:nvSpPr>
          <p:cNvPr id="11" name="Text 7"/>
          <p:cNvSpPr/>
          <p:nvPr/>
        </p:nvSpPr>
        <p:spPr>
          <a:xfrm>
            <a:off x="5349240" y="1536192"/>
            <a:ext cx="3520440" cy="685800"/>
          </a:xfrm>
          <a:prstGeom prst="rect">
            <a:avLst/>
          </a:prstGeom>
          <a:noFill/>
          <a:ln/>
        </p:spPr>
        <p:txBody>
          <a:bodyPr wrap="square" rtlCol="0" anchor="ctr"/>
          <a:lstStyle/>
          <a:p>
            <a:pPr indent="0" marL="0">
              <a:buNone/>
            </a:pPr>
            <a:r>
              <a:rPr lang="en-US" sz="1050" dirty="0">
                <a:solidFill>
                  <a:srgbClr val="2E5740"/>
                </a:solidFill>
              </a:rPr>
              <a:t>Développer un système expert embarqué permettant d'identifier les maladies du cacao par un arbre de décision dynamique à 4 questions.</a:t>
            </a:r>
            <a:endParaRPr lang="en-US" sz="1050" dirty="0"/>
          </a:p>
        </p:txBody>
      </p:sp>
      <p:sp>
        <p:nvSpPr>
          <p:cNvPr id="12" name="Shape 8"/>
          <p:cNvSpPr/>
          <p:nvPr/>
        </p:nvSpPr>
        <p:spPr>
          <a:xfrm>
            <a:off x="228600" y="2423160"/>
            <a:ext cx="4251960" cy="1188720"/>
          </a:xfrm>
          <a:prstGeom prst="rect">
            <a:avLst/>
          </a:prstGeom>
          <a:solidFill>
            <a:srgbClr val="FFFFFF"/>
          </a:solidFill>
          <a:ln w="12700">
            <a:solidFill>
              <a:srgbClr val="E0EDE5"/>
            </a:solidFill>
            <a:prstDash val="solid"/>
          </a:ln>
          <a:effectLst>
            <a:outerShdw sx="100000" sy="100000" kx="0" ky="0" algn="bl" rotWithShape="0" blurRad="76200" dist="25400" dir="8100000">
              <a:srgbClr val="000000">
                <a:alpha val="7000"/>
              </a:srgbClr>
            </a:outerShdw>
          </a:effectLst>
        </p:spPr>
      </p:sp>
      <p:pic>
        <p:nvPicPr>
          <p:cNvPr id="13" name="Image 2" descr="preencoded.png">    </p:cNvPr>
          <p:cNvPicPr>
            <a:picLocks noChangeAspect="1"/>
          </p:cNvPicPr>
          <p:nvPr/>
        </p:nvPicPr>
        <p:blipFill>
          <a:blip r:embed="rId3"/>
          <a:stretch>
            <a:fillRect/>
          </a:stretch>
        </p:blipFill>
        <p:spPr>
          <a:xfrm>
            <a:off x="365760" y="2770632"/>
            <a:ext cx="411480" cy="411480"/>
          </a:xfrm>
          <a:prstGeom prst="rect">
            <a:avLst/>
          </a:prstGeom>
        </p:spPr>
      </p:pic>
      <p:sp>
        <p:nvSpPr>
          <p:cNvPr id="14" name="Text 9"/>
          <p:cNvSpPr/>
          <p:nvPr/>
        </p:nvSpPr>
        <p:spPr>
          <a:xfrm>
            <a:off x="868680" y="2496312"/>
            <a:ext cx="3474720" cy="365760"/>
          </a:xfrm>
          <a:prstGeom prst="rect">
            <a:avLst/>
          </a:prstGeom>
          <a:noFill/>
          <a:ln/>
        </p:spPr>
        <p:txBody>
          <a:bodyPr wrap="square" rtlCol="0" anchor="ctr"/>
          <a:lstStyle/>
          <a:p>
            <a:pPr indent="0" marL="0">
              <a:buNone/>
            </a:pPr>
            <a:r>
              <a:rPr lang="en-US" sz="1300" b="1" dirty="0">
                <a:solidFill>
                  <a:srgbClr val="0D1F17"/>
                </a:solidFill>
              </a:rPr>
              <a:t>Météo agricole localisée</a:t>
            </a:r>
            <a:endParaRPr lang="en-US" sz="1300" dirty="0"/>
          </a:p>
        </p:txBody>
      </p:sp>
      <p:sp>
        <p:nvSpPr>
          <p:cNvPr id="15" name="Text 10"/>
          <p:cNvSpPr/>
          <p:nvPr/>
        </p:nvSpPr>
        <p:spPr>
          <a:xfrm>
            <a:off x="868680" y="2862072"/>
            <a:ext cx="3520440" cy="685800"/>
          </a:xfrm>
          <a:prstGeom prst="rect">
            <a:avLst/>
          </a:prstGeom>
          <a:noFill/>
          <a:ln/>
        </p:spPr>
        <p:txBody>
          <a:bodyPr wrap="square" rtlCol="0" anchor="ctr"/>
          <a:lstStyle/>
          <a:p>
            <a:pPr indent="0" marL="0">
              <a:buNone/>
            </a:pPr>
            <a:r>
              <a:rPr lang="en-US" sz="1050" dirty="0">
                <a:solidFill>
                  <a:srgbClr val="2E5740"/>
                </a:solidFill>
              </a:rPr>
              <a:t>Intégrer l'API Open-Meteo pour fournir des prévisions sur 7 jours géolocalisées par GPS.</a:t>
            </a:r>
            <a:endParaRPr lang="en-US" sz="1050" dirty="0"/>
          </a:p>
        </p:txBody>
      </p:sp>
      <p:sp>
        <p:nvSpPr>
          <p:cNvPr id="16" name="Shape 11"/>
          <p:cNvSpPr/>
          <p:nvPr/>
        </p:nvSpPr>
        <p:spPr>
          <a:xfrm>
            <a:off x="4709160" y="2423160"/>
            <a:ext cx="4251960" cy="1188720"/>
          </a:xfrm>
          <a:prstGeom prst="rect">
            <a:avLst/>
          </a:prstGeom>
          <a:solidFill>
            <a:srgbClr val="FFFFFF"/>
          </a:solidFill>
          <a:ln w="12700">
            <a:solidFill>
              <a:srgbClr val="E0EDE5"/>
            </a:solidFill>
            <a:prstDash val="solid"/>
          </a:ln>
          <a:effectLst>
            <a:outerShdw sx="100000" sy="100000" kx="0" ky="0" algn="bl" rotWithShape="0" blurRad="76200" dist="25400" dir="8100000">
              <a:srgbClr val="000000">
                <a:alpha val="7000"/>
              </a:srgbClr>
            </a:outerShdw>
          </a:effectLst>
        </p:spPr>
      </p:sp>
      <p:pic>
        <p:nvPicPr>
          <p:cNvPr id="17" name="Image 3" descr="preencoded.png">    </p:cNvPr>
          <p:cNvPicPr>
            <a:picLocks noChangeAspect="1"/>
          </p:cNvPicPr>
          <p:nvPr/>
        </p:nvPicPr>
        <p:blipFill>
          <a:blip r:embed="rId4"/>
          <a:stretch>
            <a:fillRect/>
          </a:stretch>
        </p:blipFill>
        <p:spPr>
          <a:xfrm>
            <a:off x="4846320" y="2770632"/>
            <a:ext cx="411480" cy="411480"/>
          </a:xfrm>
          <a:prstGeom prst="rect">
            <a:avLst/>
          </a:prstGeom>
        </p:spPr>
      </p:pic>
      <p:sp>
        <p:nvSpPr>
          <p:cNvPr id="18" name="Text 12"/>
          <p:cNvSpPr/>
          <p:nvPr/>
        </p:nvSpPr>
        <p:spPr>
          <a:xfrm>
            <a:off x="5349240" y="2496312"/>
            <a:ext cx="3474720" cy="365760"/>
          </a:xfrm>
          <a:prstGeom prst="rect">
            <a:avLst/>
          </a:prstGeom>
          <a:noFill/>
          <a:ln/>
        </p:spPr>
        <p:txBody>
          <a:bodyPr wrap="square" rtlCol="0" anchor="ctr"/>
          <a:lstStyle/>
          <a:p>
            <a:pPr indent="0" marL="0">
              <a:buNone/>
            </a:pPr>
            <a:r>
              <a:rPr lang="en-US" sz="1300" b="1" dirty="0">
                <a:solidFill>
                  <a:srgbClr val="0D1F17"/>
                </a:solidFill>
              </a:rPr>
              <a:t>Mode hors ligne complet</a:t>
            </a:r>
            <a:endParaRPr lang="en-US" sz="1300" dirty="0"/>
          </a:p>
        </p:txBody>
      </p:sp>
      <p:sp>
        <p:nvSpPr>
          <p:cNvPr id="19" name="Text 13"/>
          <p:cNvSpPr/>
          <p:nvPr/>
        </p:nvSpPr>
        <p:spPr>
          <a:xfrm>
            <a:off x="5349240" y="2862072"/>
            <a:ext cx="3520440" cy="685800"/>
          </a:xfrm>
          <a:prstGeom prst="rect">
            <a:avLst/>
          </a:prstGeom>
          <a:noFill/>
          <a:ln/>
        </p:spPr>
        <p:txBody>
          <a:bodyPr wrap="square" rtlCol="0" anchor="ctr"/>
          <a:lstStyle/>
          <a:p>
            <a:pPr indent="0" marL="0">
              <a:buNone/>
            </a:pPr>
            <a:r>
              <a:rPr lang="en-US" sz="1050" dirty="0">
                <a:solidFill>
                  <a:srgbClr val="2E5740"/>
                </a:solidFill>
              </a:rPr>
              <a:t>Garantir l'accès aux diagnostics et bonnes pratiques sans connexion internet en embarquant les données localement.</a:t>
            </a:r>
            <a:endParaRPr lang="en-US" sz="1050" dirty="0"/>
          </a:p>
        </p:txBody>
      </p:sp>
      <p:sp>
        <p:nvSpPr>
          <p:cNvPr id="20" name="Shape 14"/>
          <p:cNvSpPr/>
          <p:nvPr/>
        </p:nvSpPr>
        <p:spPr>
          <a:xfrm>
            <a:off x="228600" y="3749040"/>
            <a:ext cx="4251960" cy="1188720"/>
          </a:xfrm>
          <a:prstGeom prst="rect">
            <a:avLst/>
          </a:prstGeom>
          <a:solidFill>
            <a:srgbClr val="FFFFFF"/>
          </a:solidFill>
          <a:ln w="12700">
            <a:solidFill>
              <a:srgbClr val="E0EDE5"/>
            </a:solidFill>
            <a:prstDash val="solid"/>
          </a:ln>
          <a:effectLst>
            <a:outerShdw sx="100000" sy="100000" kx="0" ky="0" algn="bl" rotWithShape="0" blurRad="76200" dist="25400" dir="8100000">
              <a:srgbClr val="000000">
                <a:alpha val="7000"/>
              </a:srgbClr>
            </a:outerShdw>
          </a:effectLst>
        </p:spPr>
      </p:sp>
      <p:pic>
        <p:nvPicPr>
          <p:cNvPr id="21" name="Image 4" descr="preencoded.png">    </p:cNvPr>
          <p:cNvPicPr>
            <a:picLocks noChangeAspect="1"/>
          </p:cNvPicPr>
          <p:nvPr/>
        </p:nvPicPr>
        <p:blipFill>
          <a:blip r:embed="rId5"/>
          <a:stretch>
            <a:fillRect/>
          </a:stretch>
        </p:blipFill>
        <p:spPr>
          <a:xfrm>
            <a:off x="365760" y="4096512"/>
            <a:ext cx="411480" cy="411480"/>
          </a:xfrm>
          <a:prstGeom prst="rect">
            <a:avLst/>
          </a:prstGeom>
        </p:spPr>
      </p:pic>
      <p:sp>
        <p:nvSpPr>
          <p:cNvPr id="22" name="Text 15"/>
          <p:cNvSpPr/>
          <p:nvPr/>
        </p:nvSpPr>
        <p:spPr>
          <a:xfrm>
            <a:off x="868680" y="3822192"/>
            <a:ext cx="3474720" cy="365760"/>
          </a:xfrm>
          <a:prstGeom prst="rect">
            <a:avLst/>
          </a:prstGeom>
          <a:noFill/>
          <a:ln/>
        </p:spPr>
        <p:txBody>
          <a:bodyPr wrap="square" rtlCol="0" anchor="ctr"/>
          <a:lstStyle/>
          <a:p>
            <a:pPr indent="0" marL="0">
              <a:buNone/>
            </a:pPr>
            <a:r>
              <a:rPr lang="en-US" sz="1300" b="1" dirty="0">
                <a:solidFill>
                  <a:srgbClr val="0D1F17"/>
                </a:solidFill>
              </a:rPr>
              <a:t>Interface intuitive</a:t>
            </a:r>
            <a:endParaRPr lang="en-US" sz="1300" dirty="0"/>
          </a:p>
        </p:txBody>
      </p:sp>
      <p:sp>
        <p:nvSpPr>
          <p:cNvPr id="23" name="Text 16"/>
          <p:cNvSpPr/>
          <p:nvPr/>
        </p:nvSpPr>
        <p:spPr>
          <a:xfrm>
            <a:off x="868680" y="4187952"/>
            <a:ext cx="3520440" cy="685800"/>
          </a:xfrm>
          <a:prstGeom prst="rect">
            <a:avLst/>
          </a:prstGeom>
          <a:noFill/>
          <a:ln/>
        </p:spPr>
        <p:txBody>
          <a:bodyPr wrap="square" rtlCol="0" anchor="ctr"/>
          <a:lstStyle/>
          <a:p>
            <a:pPr indent="0" marL="0">
              <a:buNone/>
            </a:pPr>
            <a:r>
              <a:rPr lang="en-US" sz="1050" dirty="0">
                <a:solidFill>
                  <a:srgbClr val="2E5740"/>
                </a:solidFill>
              </a:rPr>
              <a:t>Concevoir une UX/UI moderne avec React Native Paper adaptée aux contraintes terrain des agriculteurs.</a:t>
            </a:r>
            <a:endParaRPr lang="en-US" sz="1050" dirty="0"/>
          </a:p>
        </p:txBody>
      </p:sp>
      <p:sp>
        <p:nvSpPr>
          <p:cNvPr id="24" name="Shape 17"/>
          <p:cNvSpPr/>
          <p:nvPr/>
        </p:nvSpPr>
        <p:spPr>
          <a:xfrm>
            <a:off x="4709160" y="3749040"/>
            <a:ext cx="4251960" cy="1188720"/>
          </a:xfrm>
          <a:prstGeom prst="rect">
            <a:avLst/>
          </a:prstGeom>
          <a:solidFill>
            <a:srgbClr val="FFFFFF"/>
          </a:solidFill>
          <a:ln w="12700">
            <a:solidFill>
              <a:srgbClr val="E0EDE5"/>
            </a:solidFill>
            <a:prstDash val="solid"/>
          </a:ln>
          <a:effectLst>
            <a:outerShdw sx="100000" sy="100000" kx="0" ky="0" algn="bl" rotWithShape="0" blurRad="76200" dist="25400" dir="8100000">
              <a:srgbClr val="000000">
                <a:alpha val="7000"/>
              </a:srgbClr>
            </a:outerShdw>
          </a:effectLst>
        </p:spPr>
      </p:sp>
      <p:pic>
        <p:nvPicPr>
          <p:cNvPr id="25" name="Image 5" descr="preencoded.png">    </p:cNvPr>
          <p:cNvPicPr>
            <a:picLocks noChangeAspect="1"/>
          </p:cNvPicPr>
          <p:nvPr/>
        </p:nvPicPr>
        <p:blipFill>
          <a:blip r:embed="rId6"/>
          <a:stretch>
            <a:fillRect/>
          </a:stretch>
        </p:blipFill>
        <p:spPr>
          <a:xfrm>
            <a:off x="4846320" y="4096512"/>
            <a:ext cx="411480" cy="411480"/>
          </a:xfrm>
          <a:prstGeom prst="rect">
            <a:avLst/>
          </a:prstGeom>
        </p:spPr>
      </p:pic>
      <p:sp>
        <p:nvSpPr>
          <p:cNvPr id="26" name="Text 18"/>
          <p:cNvSpPr/>
          <p:nvPr/>
        </p:nvSpPr>
        <p:spPr>
          <a:xfrm>
            <a:off x="5349240" y="3822192"/>
            <a:ext cx="3474720" cy="365760"/>
          </a:xfrm>
          <a:prstGeom prst="rect">
            <a:avLst/>
          </a:prstGeom>
          <a:noFill/>
          <a:ln/>
        </p:spPr>
        <p:txBody>
          <a:bodyPr wrap="square" rtlCol="0" anchor="ctr"/>
          <a:lstStyle/>
          <a:p>
            <a:pPr indent="0" marL="0">
              <a:buNone/>
            </a:pPr>
            <a:r>
              <a:rPr lang="en-US" sz="1300" b="1" dirty="0">
                <a:solidFill>
                  <a:srgbClr val="0D1F17"/>
                </a:solidFill>
              </a:rPr>
              <a:t>Gestion du profil</a:t>
            </a:r>
            <a:endParaRPr lang="en-US" sz="1300" dirty="0"/>
          </a:p>
        </p:txBody>
      </p:sp>
      <p:sp>
        <p:nvSpPr>
          <p:cNvPr id="27" name="Text 19"/>
          <p:cNvSpPr/>
          <p:nvPr/>
        </p:nvSpPr>
        <p:spPr>
          <a:xfrm>
            <a:off x="5349240" y="4187952"/>
            <a:ext cx="3520440" cy="685800"/>
          </a:xfrm>
          <a:prstGeom prst="rect">
            <a:avLst/>
          </a:prstGeom>
          <a:noFill/>
          <a:ln/>
        </p:spPr>
        <p:txBody>
          <a:bodyPr wrap="square" rtlCol="0" anchor="ctr"/>
          <a:lstStyle/>
          <a:p>
            <a:pPr indent="0" marL="0">
              <a:buNone/>
            </a:pPr>
            <a:r>
              <a:rPr lang="en-US" sz="1050" dirty="0">
                <a:solidFill>
                  <a:srgbClr val="2E5740"/>
                </a:solidFill>
              </a:rPr>
              <a:t>Permettre à l'utilisateur de modifier ses informations personnelles avec une ré-authentification de sécurité.</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2A1E"/>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7AE60"/>
          </a:solidFill>
          <a:ln w="12700">
            <a:solidFill>
              <a:srgbClr val="27AE60"/>
            </a:solidFill>
            <a:prstDash val="solid"/>
          </a:ln>
        </p:spPr>
      </p:sp>
      <p:sp>
        <p:nvSpPr>
          <p:cNvPr id="3" name="Text 1"/>
          <p:cNvSpPr/>
          <p:nvPr/>
        </p:nvSpPr>
        <p:spPr>
          <a:xfrm>
            <a:off x="320040" y="137160"/>
            <a:ext cx="8229600" cy="685800"/>
          </a:xfrm>
          <a:prstGeom prst="rect">
            <a:avLst/>
          </a:prstGeom>
          <a:noFill/>
          <a:ln/>
        </p:spPr>
        <p:txBody>
          <a:bodyPr wrap="square" rtlCol="0" anchor="ctr"/>
          <a:lstStyle/>
          <a:p>
            <a:pPr indent="0" marL="0">
              <a:buNone/>
            </a:pPr>
            <a:r>
              <a:rPr lang="en-US" sz="3000" b="1" dirty="0">
                <a:solidFill>
                  <a:srgbClr val="FFFFFF"/>
                </a:solidFill>
              </a:rPr>
              <a:t>Besoins Fonctionnels</a:t>
            </a:r>
            <a:endParaRPr lang="en-US" sz="3000" dirty="0"/>
          </a:p>
        </p:txBody>
      </p:sp>
      <p:sp>
        <p:nvSpPr>
          <p:cNvPr id="4" name="Shape 2"/>
          <p:cNvSpPr/>
          <p:nvPr/>
        </p:nvSpPr>
        <p:spPr>
          <a:xfrm>
            <a:off x="320040" y="804672"/>
            <a:ext cx="3200400" cy="36576"/>
          </a:xfrm>
          <a:prstGeom prst="rect">
            <a:avLst/>
          </a:prstGeom>
          <a:solidFill>
            <a:srgbClr val="27AE60"/>
          </a:solidFill>
          <a:ln w="12700">
            <a:solidFill>
              <a:srgbClr val="27AE60"/>
            </a:solidFill>
            <a:prstDash val="solid"/>
          </a:ln>
        </p:spPr>
      </p:sp>
      <p:sp>
        <p:nvSpPr>
          <p:cNvPr id="5" name="Shape 3"/>
          <p:cNvSpPr/>
          <p:nvPr/>
        </p:nvSpPr>
        <p:spPr>
          <a:xfrm>
            <a:off x="320040" y="960120"/>
            <a:ext cx="4206240" cy="868680"/>
          </a:xfrm>
          <a:prstGeom prst="rect">
            <a:avLst/>
          </a:prstGeom>
          <a:solidFill>
            <a:srgbClr val="132B1C"/>
          </a:solidFill>
          <a:ln w="12700">
            <a:solidFill>
              <a:srgbClr val="1A7A4A"/>
            </a:solidFill>
            <a:prstDash val="solid"/>
          </a:ln>
        </p:spPr>
      </p:sp>
      <p:sp>
        <p:nvSpPr>
          <p:cNvPr id="6" name="Shape 4"/>
          <p:cNvSpPr/>
          <p:nvPr/>
        </p:nvSpPr>
        <p:spPr>
          <a:xfrm>
            <a:off x="320040" y="960120"/>
            <a:ext cx="685800" cy="868680"/>
          </a:xfrm>
          <a:prstGeom prst="rect">
            <a:avLst/>
          </a:prstGeom>
          <a:solidFill>
            <a:srgbClr val="1A7A4A"/>
          </a:solidFill>
          <a:ln w="12700">
            <a:solidFill>
              <a:srgbClr val="1A7A4A"/>
            </a:solidFill>
            <a:prstDash val="solid"/>
          </a:ln>
        </p:spPr>
      </p:sp>
      <p:sp>
        <p:nvSpPr>
          <p:cNvPr id="7" name="Text 5"/>
          <p:cNvSpPr/>
          <p:nvPr/>
        </p:nvSpPr>
        <p:spPr>
          <a:xfrm>
            <a:off x="320040" y="960120"/>
            <a:ext cx="685800" cy="868680"/>
          </a:xfrm>
          <a:prstGeom prst="rect">
            <a:avLst/>
          </a:prstGeom>
          <a:noFill/>
          <a:ln/>
        </p:spPr>
        <p:txBody>
          <a:bodyPr wrap="square" lIns="0" tIns="0" rIns="0" bIns="0" rtlCol="0" anchor="ctr"/>
          <a:lstStyle/>
          <a:p>
            <a:pPr algn="ctr" indent="0" marL="0">
              <a:buNone/>
            </a:pPr>
            <a:r>
              <a:rPr lang="en-US" sz="1000" b="1" dirty="0">
                <a:solidFill>
                  <a:srgbClr val="FFFFFF"/>
                </a:solidFill>
              </a:rPr>
              <a:t>BF01</a:t>
            </a:r>
            <a:endParaRPr lang="en-US" sz="1000" dirty="0"/>
          </a:p>
        </p:txBody>
      </p:sp>
      <p:sp>
        <p:nvSpPr>
          <p:cNvPr id="8" name="Text 6"/>
          <p:cNvSpPr/>
          <p:nvPr/>
        </p:nvSpPr>
        <p:spPr>
          <a:xfrm>
            <a:off x="1097280" y="1005840"/>
            <a:ext cx="3291840" cy="347472"/>
          </a:xfrm>
          <a:prstGeom prst="rect">
            <a:avLst/>
          </a:prstGeom>
          <a:noFill/>
          <a:ln/>
        </p:spPr>
        <p:txBody>
          <a:bodyPr wrap="square" rtlCol="0" anchor="ctr"/>
          <a:lstStyle/>
          <a:p>
            <a:pPr indent="0" marL="0">
              <a:buNone/>
            </a:pPr>
            <a:r>
              <a:rPr lang="en-US" sz="1250" b="1" dirty="0">
                <a:solidFill>
                  <a:srgbClr val="4CAF8A"/>
                </a:solidFill>
              </a:rPr>
              <a:t>Inscription &amp; Connexion</a:t>
            </a:r>
            <a:endParaRPr lang="en-US" sz="1250" dirty="0"/>
          </a:p>
        </p:txBody>
      </p:sp>
      <p:sp>
        <p:nvSpPr>
          <p:cNvPr id="9" name="Text 7"/>
          <p:cNvSpPr/>
          <p:nvPr/>
        </p:nvSpPr>
        <p:spPr>
          <a:xfrm>
            <a:off x="1097280" y="1371600"/>
            <a:ext cx="3291840" cy="411480"/>
          </a:xfrm>
          <a:prstGeom prst="rect">
            <a:avLst/>
          </a:prstGeom>
          <a:noFill/>
          <a:ln/>
        </p:spPr>
        <p:txBody>
          <a:bodyPr wrap="square" rtlCol="0" anchor="ctr"/>
          <a:lstStyle/>
          <a:p>
            <a:pPr indent="0" marL="0">
              <a:buNone/>
            </a:pPr>
            <a:r>
              <a:rPr lang="en-US" sz="1000" dirty="0">
                <a:solidFill>
                  <a:srgbClr val="8BBBA5"/>
                </a:solidFill>
              </a:rPr>
              <a:t>Créer un compte, se connecter avec email/mot de passe via Firebase Auth</a:t>
            </a:r>
            <a:endParaRPr lang="en-US" sz="1000" dirty="0"/>
          </a:p>
        </p:txBody>
      </p:sp>
      <p:sp>
        <p:nvSpPr>
          <p:cNvPr id="10" name="Shape 8"/>
          <p:cNvSpPr/>
          <p:nvPr/>
        </p:nvSpPr>
        <p:spPr>
          <a:xfrm>
            <a:off x="4754880" y="960120"/>
            <a:ext cx="4206240" cy="868680"/>
          </a:xfrm>
          <a:prstGeom prst="rect">
            <a:avLst/>
          </a:prstGeom>
          <a:solidFill>
            <a:srgbClr val="132B1C"/>
          </a:solidFill>
          <a:ln w="12700">
            <a:solidFill>
              <a:srgbClr val="1A7A4A"/>
            </a:solidFill>
            <a:prstDash val="solid"/>
          </a:ln>
        </p:spPr>
      </p:sp>
      <p:sp>
        <p:nvSpPr>
          <p:cNvPr id="11" name="Shape 9"/>
          <p:cNvSpPr/>
          <p:nvPr/>
        </p:nvSpPr>
        <p:spPr>
          <a:xfrm>
            <a:off x="4754880" y="960120"/>
            <a:ext cx="685800" cy="868680"/>
          </a:xfrm>
          <a:prstGeom prst="rect">
            <a:avLst/>
          </a:prstGeom>
          <a:solidFill>
            <a:srgbClr val="1A7A4A"/>
          </a:solidFill>
          <a:ln w="12700">
            <a:solidFill>
              <a:srgbClr val="1A7A4A"/>
            </a:solidFill>
            <a:prstDash val="solid"/>
          </a:ln>
        </p:spPr>
      </p:sp>
      <p:sp>
        <p:nvSpPr>
          <p:cNvPr id="12" name="Text 10"/>
          <p:cNvSpPr/>
          <p:nvPr/>
        </p:nvSpPr>
        <p:spPr>
          <a:xfrm>
            <a:off x="4754880" y="960120"/>
            <a:ext cx="685800" cy="868680"/>
          </a:xfrm>
          <a:prstGeom prst="rect">
            <a:avLst/>
          </a:prstGeom>
          <a:noFill/>
          <a:ln/>
        </p:spPr>
        <p:txBody>
          <a:bodyPr wrap="square" lIns="0" tIns="0" rIns="0" bIns="0" rtlCol="0" anchor="ctr"/>
          <a:lstStyle/>
          <a:p>
            <a:pPr algn="ctr" indent="0" marL="0">
              <a:buNone/>
            </a:pPr>
            <a:r>
              <a:rPr lang="en-US" sz="1000" b="1" dirty="0">
                <a:solidFill>
                  <a:srgbClr val="FFFFFF"/>
                </a:solidFill>
              </a:rPr>
              <a:t>BF02</a:t>
            </a:r>
            <a:endParaRPr lang="en-US" sz="1000" dirty="0"/>
          </a:p>
        </p:txBody>
      </p:sp>
      <p:sp>
        <p:nvSpPr>
          <p:cNvPr id="13" name="Text 11"/>
          <p:cNvSpPr/>
          <p:nvPr/>
        </p:nvSpPr>
        <p:spPr>
          <a:xfrm>
            <a:off x="5532120" y="1005840"/>
            <a:ext cx="3291840" cy="347472"/>
          </a:xfrm>
          <a:prstGeom prst="rect">
            <a:avLst/>
          </a:prstGeom>
          <a:noFill/>
          <a:ln/>
        </p:spPr>
        <p:txBody>
          <a:bodyPr wrap="square" rtlCol="0" anchor="ctr"/>
          <a:lstStyle/>
          <a:p>
            <a:pPr indent="0" marL="0">
              <a:buNone/>
            </a:pPr>
            <a:r>
              <a:rPr lang="en-US" sz="1250" b="1" dirty="0">
                <a:solidFill>
                  <a:srgbClr val="4CAF8A"/>
                </a:solidFill>
              </a:rPr>
              <a:t>Diagnostic Visuel IA</a:t>
            </a:r>
            <a:endParaRPr lang="en-US" sz="1250" dirty="0"/>
          </a:p>
        </p:txBody>
      </p:sp>
      <p:sp>
        <p:nvSpPr>
          <p:cNvPr id="14" name="Text 12"/>
          <p:cNvSpPr/>
          <p:nvPr/>
        </p:nvSpPr>
        <p:spPr>
          <a:xfrm>
            <a:off x="5532120" y="1371600"/>
            <a:ext cx="3291840" cy="411480"/>
          </a:xfrm>
          <a:prstGeom prst="rect">
            <a:avLst/>
          </a:prstGeom>
          <a:noFill/>
          <a:ln/>
        </p:spPr>
        <p:txBody>
          <a:bodyPr wrap="square" rtlCol="0" anchor="ctr"/>
          <a:lstStyle/>
          <a:p>
            <a:pPr indent="0" marL="0">
              <a:buNone/>
            </a:pPr>
            <a:r>
              <a:rPr lang="en-US" sz="1000" dirty="0">
                <a:solidFill>
                  <a:srgbClr val="8BBBA5"/>
                </a:solidFill>
              </a:rPr>
              <a:t>Ouvrir la caméra, capturer une photo et lancer le système expert de diagnostic</a:t>
            </a:r>
            <a:endParaRPr lang="en-US" sz="1000" dirty="0"/>
          </a:p>
        </p:txBody>
      </p:sp>
      <p:sp>
        <p:nvSpPr>
          <p:cNvPr id="15" name="Shape 13"/>
          <p:cNvSpPr/>
          <p:nvPr/>
        </p:nvSpPr>
        <p:spPr>
          <a:xfrm>
            <a:off x="320040" y="1965960"/>
            <a:ext cx="4206240" cy="868680"/>
          </a:xfrm>
          <a:prstGeom prst="rect">
            <a:avLst/>
          </a:prstGeom>
          <a:solidFill>
            <a:srgbClr val="132B1C"/>
          </a:solidFill>
          <a:ln w="12700">
            <a:solidFill>
              <a:srgbClr val="1A7A4A"/>
            </a:solidFill>
            <a:prstDash val="solid"/>
          </a:ln>
        </p:spPr>
      </p:sp>
      <p:sp>
        <p:nvSpPr>
          <p:cNvPr id="16" name="Shape 14"/>
          <p:cNvSpPr/>
          <p:nvPr/>
        </p:nvSpPr>
        <p:spPr>
          <a:xfrm>
            <a:off x="320040" y="1965960"/>
            <a:ext cx="685800" cy="868680"/>
          </a:xfrm>
          <a:prstGeom prst="rect">
            <a:avLst/>
          </a:prstGeom>
          <a:solidFill>
            <a:srgbClr val="1A7A4A"/>
          </a:solidFill>
          <a:ln w="12700">
            <a:solidFill>
              <a:srgbClr val="1A7A4A"/>
            </a:solidFill>
            <a:prstDash val="solid"/>
          </a:ln>
        </p:spPr>
      </p:sp>
      <p:sp>
        <p:nvSpPr>
          <p:cNvPr id="17" name="Text 15"/>
          <p:cNvSpPr/>
          <p:nvPr/>
        </p:nvSpPr>
        <p:spPr>
          <a:xfrm>
            <a:off x="320040" y="1965960"/>
            <a:ext cx="685800" cy="868680"/>
          </a:xfrm>
          <a:prstGeom prst="rect">
            <a:avLst/>
          </a:prstGeom>
          <a:noFill/>
          <a:ln/>
        </p:spPr>
        <p:txBody>
          <a:bodyPr wrap="square" lIns="0" tIns="0" rIns="0" bIns="0" rtlCol="0" anchor="ctr"/>
          <a:lstStyle/>
          <a:p>
            <a:pPr algn="ctr" indent="0" marL="0">
              <a:buNone/>
            </a:pPr>
            <a:r>
              <a:rPr lang="en-US" sz="1000" b="1" dirty="0">
                <a:solidFill>
                  <a:srgbClr val="FFFFFF"/>
                </a:solidFill>
              </a:rPr>
              <a:t>BF03</a:t>
            </a:r>
            <a:endParaRPr lang="en-US" sz="1000" dirty="0"/>
          </a:p>
        </p:txBody>
      </p:sp>
      <p:sp>
        <p:nvSpPr>
          <p:cNvPr id="18" name="Text 16"/>
          <p:cNvSpPr/>
          <p:nvPr/>
        </p:nvSpPr>
        <p:spPr>
          <a:xfrm>
            <a:off x="1097280" y="2011680"/>
            <a:ext cx="3291840" cy="347472"/>
          </a:xfrm>
          <a:prstGeom prst="rect">
            <a:avLst/>
          </a:prstGeom>
          <a:noFill/>
          <a:ln/>
        </p:spPr>
        <p:txBody>
          <a:bodyPr wrap="square" rtlCol="0" anchor="ctr"/>
          <a:lstStyle/>
          <a:p>
            <a:pPr indent="0" marL="0">
              <a:buNone/>
            </a:pPr>
            <a:r>
              <a:rPr lang="en-US" sz="1250" b="1" dirty="0">
                <a:solidFill>
                  <a:srgbClr val="4CAF8A"/>
                </a:solidFill>
              </a:rPr>
              <a:t>Questionnaire Dynamique</a:t>
            </a:r>
            <a:endParaRPr lang="en-US" sz="1250" dirty="0"/>
          </a:p>
        </p:txBody>
      </p:sp>
      <p:sp>
        <p:nvSpPr>
          <p:cNvPr id="19" name="Text 17"/>
          <p:cNvSpPr/>
          <p:nvPr/>
        </p:nvSpPr>
        <p:spPr>
          <a:xfrm>
            <a:off x="1097280" y="2377440"/>
            <a:ext cx="3291840" cy="411480"/>
          </a:xfrm>
          <a:prstGeom prst="rect">
            <a:avLst/>
          </a:prstGeom>
          <a:noFill/>
          <a:ln/>
        </p:spPr>
        <p:txBody>
          <a:bodyPr wrap="square" rtlCol="0" anchor="ctr"/>
          <a:lstStyle/>
          <a:p>
            <a:pPr indent="0" marL="0">
              <a:buNone/>
            </a:pPr>
            <a:r>
              <a:rPr lang="en-US" sz="1000" dirty="0">
                <a:solidFill>
                  <a:srgbClr val="8BBBA5"/>
                </a:solidFill>
              </a:rPr>
              <a:t>4 questions ciblées pour identifier la maladie (Pourriture Brune, etc.)</a:t>
            </a:r>
            <a:endParaRPr lang="en-US" sz="1000" dirty="0"/>
          </a:p>
        </p:txBody>
      </p:sp>
      <p:sp>
        <p:nvSpPr>
          <p:cNvPr id="20" name="Shape 18"/>
          <p:cNvSpPr/>
          <p:nvPr/>
        </p:nvSpPr>
        <p:spPr>
          <a:xfrm>
            <a:off x="4754880" y="1965960"/>
            <a:ext cx="4206240" cy="868680"/>
          </a:xfrm>
          <a:prstGeom prst="rect">
            <a:avLst/>
          </a:prstGeom>
          <a:solidFill>
            <a:srgbClr val="132B1C"/>
          </a:solidFill>
          <a:ln w="12700">
            <a:solidFill>
              <a:srgbClr val="1A7A4A"/>
            </a:solidFill>
            <a:prstDash val="solid"/>
          </a:ln>
        </p:spPr>
      </p:sp>
      <p:sp>
        <p:nvSpPr>
          <p:cNvPr id="21" name="Shape 19"/>
          <p:cNvSpPr/>
          <p:nvPr/>
        </p:nvSpPr>
        <p:spPr>
          <a:xfrm>
            <a:off x="4754880" y="1965960"/>
            <a:ext cx="685800" cy="868680"/>
          </a:xfrm>
          <a:prstGeom prst="rect">
            <a:avLst/>
          </a:prstGeom>
          <a:solidFill>
            <a:srgbClr val="1A7A4A"/>
          </a:solidFill>
          <a:ln w="12700">
            <a:solidFill>
              <a:srgbClr val="1A7A4A"/>
            </a:solidFill>
            <a:prstDash val="solid"/>
          </a:ln>
        </p:spPr>
      </p:sp>
      <p:sp>
        <p:nvSpPr>
          <p:cNvPr id="22" name="Text 20"/>
          <p:cNvSpPr/>
          <p:nvPr/>
        </p:nvSpPr>
        <p:spPr>
          <a:xfrm>
            <a:off x="4754880" y="1965960"/>
            <a:ext cx="685800" cy="868680"/>
          </a:xfrm>
          <a:prstGeom prst="rect">
            <a:avLst/>
          </a:prstGeom>
          <a:noFill/>
          <a:ln/>
        </p:spPr>
        <p:txBody>
          <a:bodyPr wrap="square" lIns="0" tIns="0" rIns="0" bIns="0" rtlCol="0" anchor="ctr"/>
          <a:lstStyle/>
          <a:p>
            <a:pPr algn="ctr" indent="0" marL="0">
              <a:buNone/>
            </a:pPr>
            <a:r>
              <a:rPr lang="en-US" sz="1000" b="1" dirty="0">
                <a:solidFill>
                  <a:srgbClr val="FFFFFF"/>
                </a:solidFill>
              </a:rPr>
              <a:t>BF04</a:t>
            </a:r>
            <a:endParaRPr lang="en-US" sz="1000" dirty="0"/>
          </a:p>
        </p:txBody>
      </p:sp>
      <p:sp>
        <p:nvSpPr>
          <p:cNvPr id="23" name="Text 21"/>
          <p:cNvSpPr/>
          <p:nvPr/>
        </p:nvSpPr>
        <p:spPr>
          <a:xfrm>
            <a:off x="5532120" y="2011680"/>
            <a:ext cx="3291840" cy="347472"/>
          </a:xfrm>
          <a:prstGeom prst="rect">
            <a:avLst/>
          </a:prstGeom>
          <a:noFill/>
          <a:ln/>
        </p:spPr>
        <p:txBody>
          <a:bodyPr wrap="square" rtlCol="0" anchor="ctr"/>
          <a:lstStyle/>
          <a:p>
            <a:pPr indent="0" marL="0">
              <a:buNone/>
            </a:pPr>
            <a:r>
              <a:rPr lang="en-US" sz="1250" b="1" dirty="0">
                <a:solidFill>
                  <a:srgbClr val="4CAF8A"/>
                </a:solidFill>
              </a:rPr>
              <a:t>Rapport de Diagnostic</a:t>
            </a:r>
            <a:endParaRPr lang="en-US" sz="1250" dirty="0"/>
          </a:p>
        </p:txBody>
      </p:sp>
      <p:sp>
        <p:nvSpPr>
          <p:cNvPr id="24" name="Text 22"/>
          <p:cNvSpPr/>
          <p:nvPr/>
        </p:nvSpPr>
        <p:spPr>
          <a:xfrm>
            <a:off x="5532120" y="2377440"/>
            <a:ext cx="3291840" cy="411480"/>
          </a:xfrm>
          <a:prstGeom prst="rect">
            <a:avLst/>
          </a:prstGeom>
          <a:noFill/>
          <a:ln/>
        </p:spPr>
        <p:txBody>
          <a:bodyPr wrap="square" rtlCol="0" anchor="ctr"/>
          <a:lstStyle/>
          <a:p>
            <a:pPr indent="0" marL="0">
              <a:buNone/>
            </a:pPr>
            <a:r>
              <a:rPr lang="en-US" sz="1000" dirty="0">
                <a:solidFill>
                  <a:srgbClr val="8BBBA5"/>
                </a:solidFill>
              </a:rPr>
              <a:t>Afficher causes, symptômes, conséquences et solutions recommandées</a:t>
            </a:r>
            <a:endParaRPr lang="en-US" sz="1000" dirty="0"/>
          </a:p>
        </p:txBody>
      </p:sp>
      <p:sp>
        <p:nvSpPr>
          <p:cNvPr id="25" name="Shape 23"/>
          <p:cNvSpPr/>
          <p:nvPr/>
        </p:nvSpPr>
        <p:spPr>
          <a:xfrm>
            <a:off x="320040" y="2971800"/>
            <a:ext cx="4206240" cy="868680"/>
          </a:xfrm>
          <a:prstGeom prst="rect">
            <a:avLst/>
          </a:prstGeom>
          <a:solidFill>
            <a:srgbClr val="132B1C"/>
          </a:solidFill>
          <a:ln w="12700">
            <a:solidFill>
              <a:srgbClr val="1A7A4A"/>
            </a:solidFill>
            <a:prstDash val="solid"/>
          </a:ln>
        </p:spPr>
      </p:sp>
      <p:sp>
        <p:nvSpPr>
          <p:cNvPr id="26" name="Shape 24"/>
          <p:cNvSpPr/>
          <p:nvPr/>
        </p:nvSpPr>
        <p:spPr>
          <a:xfrm>
            <a:off x="320040" y="2971800"/>
            <a:ext cx="685800" cy="868680"/>
          </a:xfrm>
          <a:prstGeom prst="rect">
            <a:avLst/>
          </a:prstGeom>
          <a:solidFill>
            <a:srgbClr val="1A7A4A"/>
          </a:solidFill>
          <a:ln w="12700">
            <a:solidFill>
              <a:srgbClr val="1A7A4A"/>
            </a:solidFill>
            <a:prstDash val="solid"/>
          </a:ln>
        </p:spPr>
      </p:sp>
      <p:sp>
        <p:nvSpPr>
          <p:cNvPr id="27" name="Text 25"/>
          <p:cNvSpPr/>
          <p:nvPr/>
        </p:nvSpPr>
        <p:spPr>
          <a:xfrm>
            <a:off x="320040" y="2971800"/>
            <a:ext cx="685800" cy="868680"/>
          </a:xfrm>
          <a:prstGeom prst="rect">
            <a:avLst/>
          </a:prstGeom>
          <a:noFill/>
          <a:ln/>
        </p:spPr>
        <p:txBody>
          <a:bodyPr wrap="square" lIns="0" tIns="0" rIns="0" bIns="0" rtlCol="0" anchor="ctr"/>
          <a:lstStyle/>
          <a:p>
            <a:pPr algn="ctr" indent="0" marL="0">
              <a:buNone/>
            </a:pPr>
            <a:r>
              <a:rPr lang="en-US" sz="1000" b="1" dirty="0">
                <a:solidFill>
                  <a:srgbClr val="FFFFFF"/>
                </a:solidFill>
              </a:rPr>
              <a:t>BF05</a:t>
            </a:r>
            <a:endParaRPr lang="en-US" sz="1000" dirty="0"/>
          </a:p>
        </p:txBody>
      </p:sp>
      <p:sp>
        <p:nvSpPr>
          <p:cNvPr id="28" name="Text 26"/>
          <p:cNvSpPr/>
          <p:nvPr/>
        </p:nvSpPr>
        <p:spPr>
          <a:xfrm>
            <a:off x="1097280" y="3017520"/>
            <a:ext cx="3291840" cy="347472"/>
          </a:xfrm>
          <a:prstGeom prst="rect">
            <a:avLst/>
          </a:prstGeom>
          <a:noFill/>
          <a:ln/>
        </p:spPr>
        <p:txBody>
          <a:bodyPr wrap="square" rtlCol="0" anchor="ctr"/>
          <a:lstStyle/>
          <a:p>
            <a:pPr indent="0" marL="0">
              <a:buNone/>
            </a:pPr>
            <a:r>
              <a:rPr lang="en-US" sz="1250" b="1" dirty="0">
                <a:solidFill>
                  <a:srgbClr val="4CAF8A"/>
                </a:solidFill>
              </a:rPr>
              <a:t>Prévisions Météo 7 Jours</a:t>
            </a:r>
            <a:endParaRPr lang="en-US" sz="1250" dirty="0"/>
          </a:p>
        </p:txBody>
      </p:sp>
      <p:sp>
        <p:nvSpPr>
          <p:cNvPr id="29" name="Text 27"/>
          <p:cNvSpPr/>
          <p:nvPr/>
        </p:nvSpPr>
        <p:spPr>
          <a:xfrm>
            <a:off x="1097280" y="3383280"/>
            <a:ext cx="3291840" cy="411480"/>
          </a:xfrm>
          <a:prstGeom prst="rect">
            <a:avLst/>
          </a:prstGeom>
          <a:noFill/>
          <a:ln/>
        </p:spPr>
        <p:txBody>
          <a:bodyPr wrap="square" rtlCol="0" anchor="ctr"/>
          <a:lstStyle/>
          <a:p>
            <a:pPr indent="0" marL="0">
              <a:buNone/>
            </a:pPr>
            <a:r>
              <a:rPr lang="en-US" sz="1000" dirty="0">
                <a:solidFill>
                  <a:srgbClr val="8BBBA5"/>
                </a:solidFill>
              </a:rPr>
              <a:t>Météo agricole géolocalisée via Open-Meteo avec indicateurs de risque</a:t>
            </a:r>
            <a:endParaRPr lang="en-US" sz="1000" dirty="0"/>
          </a:p>
        </p:txBody>
      </p:sp>
      <p:sp>
        <p:nvSpPr>
          <p:cNvPr id="30" name="Shape 28"/>
          <p:cNvSpPr/>
          <p:nvPr/>
        </p:nvSpPr>
        <p:spPr>
          <a:xfrm>
            <a:off x="4754880" y="2971800"/>
            <a:ext cx="4206240" cy="868680"/>
          </a:xfrm>
          <a:prstGeom prst="rect">
            <a:avLst/>
          </a:prstGeom>
          <a:solidFill>
            <a:srgbClr val="132B1C"/>
          </a:solidFill>
          <a:ln w="12700">
            <a:solidFill>
              <a:srgbClr val="1A7A4A"/>
            </a:solidFill>
            <a:prstDash val="solid"/>
          </a:ln>
        </p:spPr>
      </p:sp>
      <p:sp>
        <p:nvSpPr>
          <p:cNvPr id="31" name="Shape 29"/>
          <p:cNvSpPr/>
          <p:nvPr/>
        </p:nvSpPr>
        <p:spPr>
          <a:xfrm>
            <a:off x="4754880" y="2971800"/>
            <a:ext cx="685800" cy="868680"/>
          </a:xfrm>
          <a:prstGeom prst="rect">
            <a:avLst/>
          </a:prstGeom>
          <a:solidFill>
            <a:srgbClr val="1A7A4A"/>
          </a:solidFill>
          <a:ln w="12700">
            <a:solidFill>
              <a:srgbClr val="1A7A4A"/>
            </a:solidFill>
            <a:prstDash val="solid"/>
          </a:ln>
        </p:spPr>
      </p:sp>
      <p:sp>
        <p:nvSpPr>
          <p:cNvPr id="32" name="Text 30"/>
          <p:cNvSpPr/>
          <p:nvPr/>
        </p:nvSpPr>
        <p:spPr>
          <a:xfrm>
            <a:off x="4754880" y="2971800"/>
            <a:ext cx="685800" cy="868680"/>
          </a:xfrm>
          <a:prstGeom prst="rect">
            <a:avLst/>
          </a:prstGeom>
          <a:noFill/>
          <a:ln/>
        </p:spPr>
        <p:txBody>
          <a:bodyPr wrap="square" lIns="0" tIns="0" rIns="0" bIns="0" rtlCol="0" anchor="ctr"/>
          <a:lstStyle/>
          <a:p>
            <a:pPr algn="ctr" indent="0" marL="0">
              <a:buNone/>
            </a:pPr>
            <a:r>
              <a:rPr lang="en-US" sz="1000" b="1" dirty="0">
                <a:solidFill>
                  <a:srgbClr val="FFFFFF"/>
                </a:solidFill>
              </a:rPr>
              <a:t>BF06</a:t>
            </a:r>
            <a:endParaRPr lang="en-US" sz="1000" dirty="0"/>
          </a:p>
        </p:txBody>
      </p:sp>
      <p:sp>
        <p:nvSpPr>
          <p:cNvPr id="33" name="Text 31"/>
          <p:cNvSpPr/>
          <p:nvPr/>
        </p:nvSpPr>
        <p:spPr>
          <a:xfrm>
            <a:off x="5532120" y="3017520"/>
            <a:ext cx="3291840" cy="347472"/>
          </a:xfrm>
          <a:prstGeom prst="rect">
            <a:avLst/>
          </a:prstGeom>
          <a:noFill/>
          <a:ln/>
        </p:spPr>
        <p:txBody>
          <a:bodyPr wrap="square" rtlCol="0" anchor="ctr"/>
          <a:lstStyle/>
          <a:p>
            <a:pPr indent="0" marL="0">
              <a:buNone/>
            </a:pPr>
            <a:r>
              <a:rPr lang="en-US" sz="1250" b="1" dirty="0">
                <a:solidFill>
                  <a:srgbClr val="4CAF8A"/>
                </a:solidFill>
              </a:rPr>
              <a:t>Catalogue Bonnes Pratiques</a:t>
            </a:r>
            <a:endParaRPr lang="en-US" sz="1250" dirty="0"/>
          </a:p>
        </p:txBody>
      </p:sp>
      <p:sp>
        <p:nvSpPr>
          <p:cNvPr id="34" name="Text 32"/>
          <p:cNvSpPr/>
          <p:nvPr/>
        </p:nvSpPr>
        <p:spPr>
          <a:xfrm>
            <a:off x="5532120" y="3383280"/>
            <a:ext cx="3291840" cy="411480"/>
          </a:xfrm>
          <a:prstGeom prst="rect">
            <a:avLst/>
          </a:prstGeom>
          <a:noFill/>
          <a:ln/>
        </p:spPr>
        <p:txBody>
          <a:bodyPr wrap="square" rtlCol="0" anchor="ctr"/>
          <a:lstStyle/>
          <a:p>
            <a:pPr indent="0" marL="0">
              <a:buNone/>
            </a:pPr>
            <a:r>
              <a:rPr lang="en-US" sz="1000" dirty="0">
                <a:solidFill>
                  <a:srgbClr val="8BBBA5"/>
                </a:solidFill>
              </a:rPr>
              <a:t>Consulter les conseils (taille, ombrage, traitements) en mode hors ligne</a:t>
            </a:r>
            <a:endParaRPr lang="en-US" sz="1000" dirty="0"/>
          </a:p>
        </p:txBody>
      </p:sp>
      <p:sp>
        <p:nvSpPr>
          <p:cNvPr id="35" name="Shape 33"/>
          <p:cNvSpPr/>
          <p:nvPr/>
        </p:nvSpPr>
        <p:spPr>
          <a:xfrm>
            <a:off x="320040" y="3977640"/>
            <a:ext cx="4206240" cy="868680"/>
          </a:xfrm>
          <a:prstGeom prst="rect">
            <a:avLst/>
          </a:prstGeom>
          <a:solidFill>
            <a:srgbClr val="132B1C"/>
          </a:solidFill>
          <a:ln w="12700">
            <a:solidFill>
              <a:srgbClr val="1A7A4A"/>
            </a:solidFill>
            <a:prstDash val="solid"/>
          </a:ln>
        </p:spPr>
      </p:sp>
      <p:sp>
        <p:nvSpPr>
          <p:cNvPr id="36" name="Shape 34"/>
          <p:cNvSpPr/>
          <p:nvPr/>
        </p:nvSpPr>
        <p:spPr>
          <a:xfrm>
            <a:off x="320040" y="3977640"/>
            <a:ext cx="685800" cy="868680"/>
          </a:xfrm>
          <a:prstGeom prst="rect">
            <a:avLst/>
          </a:prstGeom>
          <a:solidFill>
            <a:srgbClr val="1A7A4A"/>
          </a:solidFill>
          <a:ln w="12700">
            <a:solidFill>
              <a:srgbClr val="1A7A4A"/>
            </a:solidFill>
            <a:prstDash val="solid"/>
          </a:ln>
        </p:spPr>
      </p:sp>
      <p:sp>
        <p:nvSpPr>
          <p:cNvPr id="37" name="Text 35"/>
          <p:cNvSpPr/>
          <p:nvPr/>
        </p:nvSpPr>
        <p:spPr>
          <a:xfrm>
            <a:off x="320040" y="3977640"/>
            <a:ext cx="685800" cy="868680"/>
          </a:xfrm>
          <a:prstGeom prst="rect">
            <a:avLst/>
          </a:prstGeom>
          <a:noFill/>
          <a:ln/>
        </p:spPr>
        <p:txBody>
          <a:bodyPr wrap="square" lIns="0" tIns="0" rIns="0" bIns="0" rtlCol="0" anchor="ctr"/>
          <a:lstStyle/>
          <a:p>
            <a:pPr algn="ctr" indent="0" marL="0">
              <a:buNone/>
            </a:pPr>
            <a:r>
              <a:rPr lang="en-US" sz="1000" b="1" dirty="0">
                <a:solidFill>
                  <a:srgbClr val="FFFFFF"/>
                </a:solidFill>
              </a:rPr>
              <a:t>BF07</a:t>
            </a:r>
            <a:endParaRPr lang="en-US" sz="1000" dirty="0"/>
          </a:p>
        </p:txBody>
      </p:sp>
      <p:sp>
        <p:nvSpPr>
          <p:cNvPr id="38" name="Text 36"/>
          <p:cNvSpPr/>
          <p:nvPr/>
        </p:nvSpPr>
        <p:spPr>
          <a:xfrm>
            <a:off x="1097280" y="4023360"/>
            <a:ext cx="3291840" cy="347472"/>
          </a:xfrm>
          <a:prstGeom prst="rect">
            <a:avLst/>
          </a:prstGeom>
          <a:noFill/>
          <a:ln/>
        </p:spPr>
        <p:txBody>
          <a:bodyPr wrap="square" rtlCol="0" anchor="ctr"/>
          <a:lstStyle/>
          <a:p>
            <a:pPr indent="0" marL="0">
              <a:buNone/>
            </a:pPr>
            <a:r>
              <a:rPr lang="en-US" sz="1250" b="1" dirty="0">
                <a:solidFill>
                  <a:srgbClr val="4CAF8A"/>
                </a:solidFill>
              </a:rPr>
              <a:t>Gestion du Profil</a:t>
            </a:r>
            <a:endParaRPr lang="en-US" sz="1250" dirty="0"/>
          </a:p>
        </p:txBody>
      </p:sp>
      <p:sp>
        <p:nvSpPr>
          <p:cNvPr id="39" name="Text 37"/>
          <p:cNvSpPr/>
          <p:nvPr/>
        </p:nvSpPr>
        <p:spPr>
          <a:xfrm>
            <a:off x="1097280" y="4389120"/>
            <a:ext cx="3291840" cy="411480"/>
          </a:xfrm>
          <a:prstGeom prst="rect">
            <a:avLst/>
          </a:prstGeom>
          <a:noFill/>
          <a:ln/>
        </p:spPr>
        <p:txBody>
          <a:bodyPr wrap="square" rtlCol="0" anchor="ctr"/>
          <a:lstStyle/>
          <a:p>
            <a:pPr indent="0" marL="0">
              <a:buNone/>
            </a:pPr>
            <a:r>
              <a:rPr lang="en-US" sz="1000" dirty="0">
                <a:solidFill>
                  <a:srgbClr val="8BBBA5"/>
                </a:solidFill>
              </a:rPr>
              <a:t>Modifier email, mot de passe avec ré-authentification de sécurité</a:t>
            </a:r>
            <a:endParaRPr lang="en-US" sz="1000" dirty="0"/>
          </a:p>
        </p:txBody>
      </p:sp>
      <p:sp>
        <p:nvSpPr>
          <p:cNvPr id="40" name="Shape 38"/>
          <p:cNvSpPr/>
          <p:nvPr/>
        </p:nvSpPr>
        <p:spPr>
          <a:xfrm>
            <a:off x="4754880" y="3977640"/>
            <a:ext cx="4206240" cy="868680"/>
          </a:xfrm>
          <a:prstGeom prst="rect">
            <a:avLst/>
          </a:prstGeom>
          <a:solidFill>
            <a:srgbClr val="132B1C"/>
          </a:solidFill>
          <a:ln w="12700">
            <a:solidFill>
              <a:srgbClr val="1A7A4A"/>
            </a:solidFill>
            <a:prstDash val="solid"/>
          </a:ln>
        </p:spPr>
      </p:sp>
      <p:sp>
        <p:nvSpPr>
          <p:cNvPr id="41" name="Shape 39"/>
          <p:cNvSpPr/>
          <p:nvPr/>
        </p:nvSpPr>
        <p:spPr>
          <a:xfrm>
            <a:off x="4754880" y="3977640"/>
            <a:ext cx="685800" cy="868680"/>
          </a:xfrm>
          <a:prstGeom prst="rect">
            <a:avLst/>
          </a:prstGeom>
          <a:solidFill>
            <a:srgbClr val="1A7A4A"/>
          </a:solidFill>
          <a:ln w="12700">
            <a:solidFill>
              <a:srgbClr val="1A7A4A"/>
            </a:solidFill>
            <a:prstDash val="solid"/>
          </a:ln>
        </p:spPr>
      </p:sp>
      <p:sp>
        <p:nvSpPr>
          <p:cNvPr id="42" name="Text 40"/>
          <p:cNvSpPr/>
          <p:nvPr/>
        </p:nvSpPr>
        <p:spPr>
          <a:xfrm>
            <a:off x="4754880" y="3977640"/>
            <a:ext cx="685800" cy="868680"/>
          </a:xfrm>
          <a:prstGeom prst="rect">
            <a:avLst/>
          </a:prstGeom>
          <a:noFill/>
          <a:ln/>
        </p:spPr>
        <p:txBody>
          <a:bodyPr wrap="square" lIns="0" tIns="0" rIns="0" bIns="0" rtlCol="0" anchor="ctr"/>
          <a:lstStyle/>
          <a:p>
            <a:pPr algn="ctr" indent="0" marL="0">
              <a:buNone/>
            </a:pPr>
            <a:r>
              <a:rPr lang="en-US" sz="1000" b="1" dirty="0">
                <a:solidFill>
                  <a:srgbClr val="FFFFFF"/>
                </a:solidFill>
              </a:rPr>
              <a:t>BF08</a:t>
            </a:r>
            <a:endParaRPr lang="en-US" sz="1000" dirty="0"/>
          </a:p>
        </p:txBody>
      </p:sp>
      <p:sp>
        <p:nvSpPr>
          <p:cNvPr id="43" name="Text 41"/>
          <p:cNvSpPr/>
          <p:nvPr/>
        </p:nvSpPr>
        <p:spPr>
          <a:xfrm>
            <a:off x="5532120" y="4023360"/>
            <a:ext cx="3291840" cy="347472"/>
          </a:xfrm>
          <a:prstGeom prst="rect">
            <a:avLst/>
          </a:prstGeom>
          <a:noFill/>
          <a:ln/>
        </p:spPr>
        <p:txBody>
          <a:bodyPr wrap="square" rtlCol="0" anchor="ctr"/>
          <a:lstStyle/>
          <a:p>
            <a:pPr indent="0" marL="0">
              <a:buNone/>
            </a:pPr>
            <a:r>
              <a:rPr lang="en-US" sz="1250" b="1" dirty="0">
                <a:solidFill>
                  <a:srgbClr val="4CAF8A"/>
                </a:solidFill>
              </a:rPr>
              <a:t>Navigation Intuitive</a:t>
            </a:r>
            <a:endParaRPr lang="en-US" sz="1250" dirty="0"/>
          </a:p>
        </p:txBody>
      </p:sp>
      <p:sp>
        <p:nvSpPr>
          <p:cNvPr id="44" name="Text 42"/>
          <p:cNvSpPr/>
          <p:nvPr/>
        </p:nvSpPr>
        <p:spPr>
          <a:xfrm>
            <a:off x="5532120" y="4389120"/>
            <a:ext cx="3291840" cy="411480"/>
          </a:xfrm>
          <a:prstGeom prst="rect">
            <a:avLst/>
          </a:prstGeom>
          <a:noFill/>
          <a:ln/>
        </p:spPr>
        <p:txBody>
          <a:bodyPr wrap="square" rtlCol="0" anchor="ctr"/>
          <a:lstStyle/>
          <a:p>
            <a:pPr indent="0" marL="0">
              <a:buNone/>
            </a:pPr>
            <a:r>
              <a:rPr lang="en-US" sz="1000" dirty="0">
                <a:solidFill>
                  <a:srgbClr val="8BBBA5"/>
                </a:solidFill>
              </a:rPr>
              <a:t>Bottom Tabs avec accès rapide à toutes les fonctionnalités principales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AF4"/>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F2A1E"/>
          </a:solidFill>
          <a:ln w="12700">
            <a:solidFill>
              <a:srgbClr val="0F2A1E"/>
            </a:solidFill>
            <a:prstDash val="solid"/>
          </a:ln>
        </p:spPr>
      </p:sp>
      <p:sp>
        <p:nvSpPr>
          <p:cNvPr id="3" name="Text 1"/>
          <p:cNvSpPr/>
          <p:nvPr/>
        </p:nvSpPr>
        <p:spPr>
          <a:xfrm>
            <a:off x="457200" y="0"/>
            <a:ext cx="8229600" cy="960120"/>
          </a:xfrm>
          <a:prstGeom prst="rect">
            <a:avLst/>
          </a:prstGeom>
          <a:noFill/>
          <a:ln/>
        </p:spPr>
        <p:txBody>
          <a:bodyPr wrap="square" rtlCol="0" anchor="ctr"/>
          <a:lstStyle/>
          <a:p>
            <a:pPr indent="0" marL="0">
              <a:buNone/>
            </a:pPr>
            <a:r>
              <a:rPr lang="en-US" sz="2800" b="1" dirty="0">
                <a:solidFill>
                  <a:srgbClr val="FFFFFF"/>
                </a:solidFill>
              </a:rPr>
              <a:t>Besoins Non Fonctionnels</a:t>
            </a:r>
            <a:endParaRPr lang="en-US" sz="2800" dirty="0"/>
          </a:p>
        </p:txBody>
      </p:sp>
      <p:sp>
        <p:nvSpPr>
          <p:cNvPr id="4" name="Shape 2"/>
          <p:cNvSpPr/>
          <p:nvPr/>
        </p:nvSpPr>
        <p:spPr>
          <a:xfrm>
            <a:off x="228600" y="1097280"/>
            <a:ext cx="4206240" cy="1645920"/>
          </a:xfrm>
          <a:prstGeom prst="rect">
            <a:avLst/>
          </a:prstGeom>
          <a:solidFill>
            <a:srgbClr val="FFFFFF"/>
          </a:solidFill>
          <a:ln w="12700">
            <a:solidFill>
              <a:srgbClr val="D0E8DA"/>
            </a:solidFill>
            <a:prstDash val="solid"/>
          </a:ln>
        </p:spPr>
      </p:sp>
      <p:sp>
        <p:nvSpPr>
          <p:cNvPr id="5" name="Shape 3"/>
          <p:cNvSpPr/>
          <p:nvPr/>
        </p:nvSpPr>
        <p:spPr>
          <a:xfrm>
            <a:off x="228600" y="1097280"/>
            <a:ext cx="4206240" cy="457200"/>
          </a:xfrm>
          <a:prstGeom prst="rect">
            <a:avLst/>
          </a:prstGeom>
          <a:solidFill>
            <a:srgbClr val="0F2A1E"/>
          </a:solidFill>
          <a:ln w="12700">
            <a:solidFill>
              <a:srgbClr val="0F2A1E"/>
            </a:solidFill>
            <a:prstDash val="solid"/>
          </a:ln>
        </p:spPr>
      </p:sp>
      <p:pic>
        <p:nvPicPr>
          <p:cNvPr id="6" name="Image 0" descr="preencoded.png">    </p:cNvPr>
          <p:cNvPicPr>
            <a:picLocks noChangeAspect="1"/>
          </p:cNvPicPr>
          <p:nvPr/>
        </p:nvPicPr>
        <p:blipFill>
          <a:blip r:embed="rId1"/>
          <a:stretch>
            <a:fillRect/>
          </a:stretch>
        </p:blipFill>
        <p:spPr>
          <a:xfrm>
            <a:off x="320040" y="1188720"/>
            <a:ext cx="274320" cy="274320"/>
          </a:xfrm>
          <a:prstGeom prst="rect">
            <a:avLst/>
          </a:prstGeom>
        </p:spPr>
      </p:pic>
      <p:sp>
        <p:nvSpPr>
          <p:cNvPr id="7" name="Text 4"/>
          <p:cNvSpPr/>
          <p:nvPr/>
        </p:nvSpPr>
        <p:spPr>
          <a:xfrm>
            <a:off x="685800" y="1097280"/>
            <a:ext cx="3657600" cy="457200"/>
          </a:xfrm>
          <a:prstGeom prst="rect">
            <a:avLst/>
          </a:prstGeom>
          <a:noFill/>
          <a:ln/>
        </p:spPr>
        <p:txBody>
          <a:bodyPr wrap="square" rtlCol="0" anchor="ctr"/>
          <a:lstStyle/>
          <a:p>
            <a:pPr indent="0" marL="0">
              <a:buNone/>
            </a:pPr>
            <a:r>
              <a:rPr lang="en-US" sz="1400" b="1" dirty="0">
                <a:solidFill>
                  <a:srgbClr val="FFFFFF"/>
                </a:solidFill>
              </a:rPr>
              <a:t>Sécurité</a:t>
            </a:r>
            <a:endParaRPr lang="en-US" sz="1400" dirty="0"/>
          </a:p>
        </p:txBody>
      </p:sp>
      <p:pic>
        <p:nvPicPr>
          <p:cNvPr id="8" name="Image 1" descr="preencoded.png">    </p:cNvPr>
          <p:cNvPicPr>
            <a:picLocks noChangeAspect="1"/>
          </p:cNvPicPr>
          <p:nvPr/>
        </p:nvPicPr>
        <p:blipFill>
          <a:blip r:embed="rId2"/>
          <a:stretch>
            <a:fillRect/>
          </a:stretch>
        </p:blipFill>
        <p:spPr>
          <a:xfrm>
            <a:off x="365760" y="1664208"/>
            <a:ext cx="201168" cy="201168"/>
          </a:xfrm>
          <a:prstGeom prst="rect">
            <a:avLst/>
          </a:prstGeom>
        </p:spPr>
      </p:pic>
      <p:sp>
        <p:nvSpPr>
          <p:cNvPr id="9" name="Text 5"/>
          <p:cNvSpPr/>
          <p:nvPr/>
        </p:nvSpPr>
        <p:spPr>
          <a:xfrm>
            <a:off x="640080" y="1627632"/>
            <a:ext cx="3703320" cy="320040"/>
          </a:xfrm>
          <a:prstGeom prst="rect">
            <a:avLst/>
          </a:prstGeom>
          <a:noFill/>
          <a:ln/>
        </p:spPr>
        <p:txBody>
          <a:bodyPr wrap="square" rtlCol="0" anchor="ctr"/>
          <a:lstStyle/>
          <a:p>
            <a:pPr indent="0" marL="0">
              <a:buNone/>
            </a:pPr>
            <a:r>
              <a:rPr lang="en-US" sz="1100" dirty="0">
                <a:solidFill>
                  <a:srgbClr val="2E5740"/>
                </a:solidFill>
              </a:rPr>
              <a:t>Authentification Firebase (chiffrée)</a:t>
            </a:r>
            <a:endParaRPr lang="en-US" sz="1100" dirty="0"/>
          </a:p>
        </p:txBody>
      </p:sp>
      <p:pic>
        <p:nvPicPr>
          <p:cNvPr id="10" name="Image 2" descr="preencoded.png">    </p:cNvPr>
          <p:cNvPicPr>
            <a:picLocks noChangeAspect="1"/>
          </p:cNvPicPr>
          <p:nvPr/>
        </p:nvPicPr>
        <p:blipFill>
          <a:blip r:embed="rId3"/>
          <a:stretch>
            <a:fillRect/>
          </a:stretch>
        </p:blipFill>
        <p:spPr>
          <a:xfrm>
            <a:off x="365760" y="2029968"/>
            <a:ext cx="201168" cy="201168"/>
          </a:xfrm>
          <a:prstGeom prst="rect">
            <a:avLst/>
          </a:prstGeom>
        </p:spPr>
      </p:pic>
      <p:sp>
        <p:nvSpPr>
          <p:cNvPr id="11" name="Text 6"/>
          <p:cNvSpPr/>
          <p:nvPr/>
        </p:nvSpPr>
        <p:spPr>
          <a:xfrm>
            <a:off x="640080" y="1993392"/>
            <a:ext cx="3703320" cy="320040"/>
          </a:xfrm>
          <a:prstGeom prst="rect">
            <a:avLst/>
          </a:prstGeom>
          <a:noFill/>
          <a:ln/>
        </p:spPr>
        <p:txBody>
          <a:bodyPr wrap="square" rtlCol="0" anchor="ctr"/>
          <a:lstStyle/>
          <a:p>
            <a:pPr indent="0" marL="0">
              <a:buNone/>
            </a:pPr>
            <a:r>
              <a:rPr lang="en-US" sz="1100" dirty="0">
                <a:solidFill>
                  <a:srgbClr val="2E5740"/>
                </a:solidFill>
              </a:rPr>
              <a:t>Ré-authentification avant modifications sensibles</a:t>
            </a:r>
            <a:endParaRPr lang="en-US" sz="1100" dirty="0"/>
          </a:p>
        </p:txBody>
      </p:sp>
      <p:pic>
        <p:nvPicPr>
          <p:cNvPr id="12" name="Image 3" descr="preencoded.png">    </p:cNvPr>
          <p:cNvPicPr>
            <a:picLocks noChangeAspect="1"/>
          </p:cNvPicPr>
          <p:nvPr/>
        </p:nvPicPr>
        <p:blipFill>
          <a:blip r:embed="rId4"/>
          <a:stretch>
            <a:fillRect/>
          </a:stretch>
        </p:blipFill>
        <p:spPr>
          <a:xfrm>
            <a:off x="365760" y="2395728"/>
            <a:ext cx="201168" cy="201168"/>
          </a:xfrm>
          <a:prstGeom prst="rect">
            <a:avLst/>
          </a:prstGeom>
        </p:spPr>
      </p:pic>
      <p:sp>
        <p:nvSpPr>
          <p:cNvPr id="13" name="Text 7"/>
          <p:cNvSpPr/>
          <p:nvPr/>
        </p:nvSpPr>
        <p:spPr>
          <a:xfrm>
            <a:off x="640080" y="2359152"/>
            <a:ext cx="3703320" cy="320040"/>
          </a:xfrm>
          <a:prstGeom prst="rect">
            <a:avLst/>
          </a:prstGeom>
          <a:noFill/>
          <a:ln/>
        </p:spPr>
        <p:txBody>
          <a:bodyPr wrap="square" rtlCol="0" anchor="ctr"/>
          <a:lstStyle/>
          <a:p>
            <a:pPr indent="0" marL="0">
              <a:buNone/>
            </a:pPr>
            <a:r>
              <a:rPr lang="en-US" sz="1100" dirty="0">
                <a:solidFill>
                  <a:srgbClr val="2E5740"/>
                </a:solidFill>
              </a:rPr>
              <a:t>Données locales non exposées au réseau</a:t>
            </a:r>
            <a:endParaRPr lang="en-US" sz="1100" dirty="0"/>
          </a:p>
        </p:txBody>
      </p:sp>
      <p:sp>
        <p:nvSpPr>
          <p:cNvPr id="14" name="Shape 8"/>
          <p:cNvSpPr/>
          <p:nvPr/>
        </p:nvSpPr>
        <p:spPr>
          <a:xfrm>
            <a:off x="4709160" y="1097280"/>
            <a:ext cx="4206240" cy="1645920"/>
          </a:xfrm>
          <a:prstGeom prst="rect">
            <a:avLst/>
          </a:prstGeom>
          <a:solidFill>
            <a:srgbClr val="FFFFFF"/>
          </a:solidFill>
          <a:ln w="12700">
            <a:solidFill>
              <a:srgbClr val="D0E8DA"/>
            </a:solidFill>
            <a:prstDash val="solid"/>
          </a:ln>
        </p:spPr>
      </p:sp>
      <p:sp>
        <p:nvSpPr>
          <p:cNvPr id="15" name="Shape 9"/>
          <p:cNvSpPr/>
          <p:nvPr/>
        </p:nvSpPr>
        <p:spPr>
          <a:xfrm>
            <a:off x="4709160" y="1097280"/>
            <a:ext cx="4206240" cy="457200"/>
          </a:xfrm>
          <a:prstGeom prst="rect">
            <a:avLst/>
          </a:prstGeom>
          <a:solidFill>
            <a:srgbClr val="0F2A1E"/>
          </a:solidFill>
          <a:ln w="12700">
            <a:solidFill>
              <a:srgbClr val="0F2A1E"/>
            </a:solidFill>
            <a:prstDash val="solid"/>
          </a:ln>
        </p:spPr>
      </p:sp>
      <p:pic>
        <p:nvPicPr>
          <p:cNvPr id="16" name="Image 4" descr="preencoded.png">    </p:cNvPr>
          <p:cNvPicPr>
            <a:picLocks noChangeAspect="1"/>
          </p:cNvPicPr>
          <p:nvPr/>
        </p:nvPicPr>
        <p:blipFill>
          <a:blip r:embed="rId5"/>
          <a:stretch>
            <a:fillRect/>
          </a:stretch>
        </p:blipFill>
        <p:spPr>
          <a:xfrm>
            <a:off x="4800600" y="1188720"/>
            <a:ext cx="274320" cy="274320"/>
          </a:xfrm>
          <a:prstGeom prst="rect">
            <a:avLst/>
          </a:prstGeom>
        </p:spPr>
      </p:pic>
      <p:sp>
        <p:nvSpPr>
          <p:cNvPr id="17" name="Text 10"/>
          <p:cNvSpPr/>
          <p:nvPr/>
        </p:nvSpPr>
        <p:spPr>
          <a:xfrm>
            <a:off x="5166360" y="1097280"/>
            <a:ext cx="3657600" cy="457200"/>
          </a:xfrm>
          <a:prstGeom prst="rect">
            <a:avLst/>
          </a:prstGeom>
          <a:noFill/>
          <a:ln/>
        </p:spPr>
        <p:txBody>
          <a:bodyPr wrap="square" rtlCol="0" anchor="ctr"/>
          <a:lstStyle/>
          <a:p>
            <a:pPr indent="0" marL="0">
              <a:buNone/>
            </a:pPr>
            <a:r>
              <a:rPr lang="en-US" sz="1400" b="1" dirty="0">
                <a:solidFill>
                  <a:srgbClr val="FFFFFF"/>
                </a:solidFill>
              </a:rPr>
              <a:t>Disponibilité &amp; Offline-First</a:t>
            </a:r>
            <a:endParaRPr lang="en-US" sz="1400" dirty="0"/>
          </a:p>
        </p:txBody>
      </p:sp>
      <p:pic>
        <p:nvPicPr>
          <p:cNvPr id="18" name="Image 5" descr="preencoded.png">    </p:cNvPr>
          <p:cNvPicPr>
            <a:picLocks noChangeAspect="1"/>
          </p:cNvPicPr>
          <p:nvPr/>
        </p:nvPicPr>
        <p:blipFill>
          <a:blip r:embed="rId6"/>
          <a:stretch>
            <a:fillRect/>
          </a:stretch>
        </p:blipFill>
        <p:spPr>
          <a:xfrm>
            <a:off x="4846320" y="1664208"/>
            <a:ext cx="201168" cy="201168"/>
          </a:xfrm>
          <a:prstGeom prst="rect">
            <a:avLst/>
          </a:prstGeom>
        </p:spPr>
      </p:pic>
      <p:sp>
        <p:nvSpPr>
          <p:cNvPr id="19" name="Text 11"/>
          <p:cNvSpPr/>
          <p:nvPr/>
        </p:nvSpPr>
        <p:spPr>
          <a:xfrm>
            <a:off x="5120640" y="1627632"/>
            <a:ext cx="3703320" cy="320040"/>
          </a:xfrm>
          <a:prstGeom prst="rect">
            <a:avLst/>
          </a:prstGeom>
          <a:noFill/>
          <a:ln/>
        </p:spPr>
        <p:txBody>
          <a:bodyPr wrap="square" rtlCol="0" anchor="ctr"/>
          <a:lstStyle/>
          <a:p>
            <a:pPr indent="0" marL="0">
              <a:buNone/>
            </a:pPr>
            <a:r>
              <a:rPr lang="en-US" sz="1100" dirty="0">
                <a:solidFill>
                  <a:srgbClr val="2E5740"/>
                </a:solidFill>
              </a:rPr>
              <a:t>Fonctionnement sans internet (diagnostic, bonnes pratiques)</a:t>
            </a:r>
            <a:endParaRPr lang="en-US" sz="1100" dirty="0"/>
          </a:p>
        </p:txBody>
      </p:sp>
      <p:pic>
        <p:nvPicPr>
          <p:cNvPr id="20" name="Image 6" descr="preencoded.png">    </p:cNvPr>
          <p:cNvPicPr>
            <a:picLocks noChangeAspect="1"/>
          </p:cNvPicPr>
          <p:nvPr/>
        </p:nvPicPr>
        <p:blipFill>
          <a:blip r:embed="rId7"/>
          <a:stretch>
            <a:fillRect/>
          </a:stretch>
        </p:blipFill>
        <p:spPr>
          <a:xfrm>
            <a:off x="4846320" y="2029968"/>
            <a:ext cx="201168" cy="201168"/>
          </a:xfrm>
          <a:prstGeom prst="rect">
            <a:avLst/>
          </a:prstGeom>
        </p:spPr>
      </p:pic>
      <p:sp>
        <p:nvSpPr>
          <p:cNvPr id="21" name="Text 12"/>
          <p:cNvSpPr/>
          <p:nvPr/>
        </p:nvSpPr>
        <p:spPr>
          <a:xfrm>
            <a:off x="5120640" y="1993392"/>
            <a:ext cx="3703320" cy="320040"/>
          </a:xfrm>
          <a:prstGeom prst="rect">
            <a:avLst/>
          </a:prstGeom>
          <a:noFill/>
          <a:ln/>
        </p:spPr>
        <p:txBody>
          <a:bodyPr wrap="square" rtlCol="0" anchor="ctr"/>
          <a:lstStyle/>
          <a:p>
            <a:pPr indent="0" marL="0">
              <a:buNone/>
            </a:pPr>
            <a:r>
              <a:rPr lang="en-US" sz="1100" dirty="0">
                <a:solidFill>
                  <a:srgbClr val="2E5740"/>
                </a:solidFill>
              </a:rPr>
              <a:t>Connexion requise uniquement pour auth &amp; météo</a:t>
            </a:r>
            <a:endParaRPr lang="en-US" sz="1100" dirty="0"/>
          </a:p>
        </p:txBody>
      </p:sp>
      <p:pic>
        <p:nvPicPr>
          <p:cNvPr id="22" name="Image 7" descr="preencoded.png">    </p:cNvPr>
          <p:cNvPicPr>
            <a:picLocks noChangeAspect="1"/>
          </p:cNvPicPr>
          <p:nvPr/>
        </p:nvPicPr>
        <p:blipFill>
          <a:blip r:embed="rId8"/>
          <a:stretch>
            <a:fillRect/>
          </a:stretch>
        </p:blipFill>
        <p:spPr>
          <a:xfrm>
            <a:off x="4846320" y="2395728"/>
            <a:ext cx="201168" cy="201168"/>
          </a:xfrm>
          <a:prstGeom prst="rect">
            <a:avLst/>
          </a:prstGeom>
        </p:spPr>
      </p:pic>
      <p:sp>
        <p:nvSpPr>
          <p:cNvPr id="23" name="Text 13"/>
          <p:cNvSpPr/>
          <p:nvPr/>
        </p:nvSpPr>
        <p:spPr>
          <a:xfrm>
            <a:off x="5120640" y="2359152"/>
            <a:ext cx="3703320" cy="320040"/>
          </a:xfrm>
          <a:prstGeom prst="rect">
            <a:avLst/>
          </a:prstGeom>
          <a:noFill/>
          <a:ln/>
        </p:spPr>
        <p:txBody>
          <a:bodyPr wrap="square" rtlCol="0" anchor="ctr"/>
          <a:lstStyle/>
          <a:p>
            <a:pPr indent="0" marL="0">
              <a:buNone/>
            </a:pPr>
            <a:r>
              <a:rPr lang="en-US" sz="1100" dirty="0">
                <a:solidFill>
                  <a:srgbClr val="2E5740"/>
                </a:solidFill>
              </a:rPr>
              <a:t>Architecture Offline-First</a:t>
            </a:r>
            <a:endParaRPr lang="en-US" sz="1100" dirty="0"/>
          </a:p>
        </p:txBody>
      </p:sp>
      <p:sp>
        <p:nvSpPr>
          <p:cNvPr id="24" name="Shape 14"/>
          <p:cNvSpPr/>
          <p:nvPr/>
        </p:nvSpPr>
        <p:spPr>
          <a:xfrm>
            <a:off x="228600" y="2926080"/>
            <a:ext cx="4206240" cy="1645920"/>
          </a:xfrm>
          <a:prstGeom prst="rect">
            <a:avLst/>
          </a:prstGeom>
          <a:solidFill>
            <a:srgbClr val="FFFFFF"/>
          </a:solidFill>
          <a:ln w="12700">
            <a:solidFill>
              <a:srgbClr val="D0E8DA"/>
            </a:solidFill>
            <a:prstDash val="solid"/>
          </a:ln>
        </p:spPr>
      </p:sp>
      <p:sp>
        <p:nvSpPr>
          <p:cNvPr id="25" name="Shape 15"/>
          <p:cNvSpPr/>
          <p:nvPr/>
        </p:nvSpPr>
        <p:spPr>
          <a:xfrm>
            <a:off x="228600" y="2926080"/>
            <a:ext cx="4206240" cy="457200"/>
          </a:xfrm>
          <a:prstGeom prst="rect">
            <a:avLst/>
          </a:prstGeom>
          <a:solidFill>
            <a:srgbClr val="0F2A1E"/>
          </a:solidFill>
          <a:ln w="12700">
            <a:solidFill>
              <a:srgbClr val="0F2A1E"/>
            </a:solidFill>
            <a:prstDash val="solid"/>
          </a:ln>
        </p:spPr>
      </p:sp>
      <p:pic>
        <p:nvPicPr>
          <p:cNvPr id="26" name="Image 8" descr="preencoded.png">    </p:cNvPr>
          <p:cNvPicPr>
            <a:picLocks noChangeAspect="1"/>
          </p:cNvPicPr>
          <p:nvPr/>
        </p:nvPicPr>
        <p:blipFill>
          <a:blip r:embed="rId9"/>
          <a:stretch>
            <a:fillRect/>
          </a:stretch>
        </p:blipFill>
        <p:spPr>
          <a:xfrm>
            <a:off x="320040" y="3017520"/>
            <a:ext cx="274320" cy="274320"/>
          </a:xfrm>
          <a:prstGeom prst="rect">
            <a:avLst/>
          </a:prstGeom>
        </p:spPr>
      </p:pic>
      <p:sp>
        <p:nvSpPr>
          <p:cNvPr id="27" name="Text 16"/>
          <p:cNvSpPr/>
          <p:nvPr/>
        </p:nvSpPr>
        <p:spPr>
          <a:xfrm>
            <a:off x="685800" y="2926080"/>
            <a:ext cx="3657600" cy="457200"/>
          </a:xfrm>
          <a:prstGeom prst="rect">
            <a:avLst/>
          </a:prstGeom>
          <a:noFill/>
          <a:ln/>
        </p:spPr>
        <p:txBody>
          <a:bodyPr wrap="square" rtlCol="0" anchor="ctr"/>
          <a:lstStyle/>
          <a:p>
            <a:pPr indent="0" marL="0">
              <a:buNone/>
            </a:pPr>
            <a:r>
              <a:rPr lang="en-US" sz="1400" b="1" dirty="0">
                <a:solidFill>
                  <a:srgbClr val="FFFFFF"/>
                </a:solidFill>
              </a:rPr>
              <a:t>Compatibilité &amp; Performance</a:t>
            </a:r>
            <a:endParaRPr lang="en-US" sz="1400" dirty="0"/>
          </a:p>
        </p:txBody>
      </p:sp>
      <p:pic>
        <p:nvPicPr>
          <p:cNvPr id="28" name="Image 9" descr="preencoded.png">    </p:cNvPr>
          <p:cNvPicPr>
            <a:picLocks noChangeAspect="1"/>
          </p:cNvPicPr>
          <p:nvPr/>
        </p:nvPicPr>
        <p:blipFill>
          <a:blip r:embed="rId10"/>
          <a:stretch>
            <a:fillRect/>
          </a:stretch>
        </p:blipFill>
        <p:spPr>
          <a:xfrm>
            <a:off x="365760" y="3493008"/>
            <a:ext cx="201168" cy="201168"/>
          </a:xfrm>
          <a:prstGeom prst="rect">
            <a:avLst/>
          </a:prstGeom>
        </p:spPr>
      </p:pic>
      <p:sp>
        <p:nvSpPr>
          <p:cNvPr id="29" name="Text 17"/>
          <p:cNvSpPr/>
          <p:nvPr/>
        </p:nvSpPr>
        <p:spPr>
          <a:xfrm>
            <a:off x="640080" y="3456432"/>
            <a:ext cx="3703320" cy="320040"/>
          </a:xfrm>
          <a:prstGeom prst="rect">
            <a:avLst/>
          </a:prstGeom>
          <a:noFill/>
          <a:ln/>
        </p:spPr>
        <p:txBody>
          <a:bodyPr wrap="square" rtlCol="0" anchor="ctr"/>
          <a:lstStyle/>
          <a:p>
            <a:pPr indent="0" marL="0">
              <a:buNone/>
            </a:pPr>
            <a:r>
              <a:rPr lang="en-US" sz="1100" dirty="0">
                <a:solidFill>
                  <a:srgbClr val="2E5740"/>
                </a:solidFill>
              </a:rPr>
              <a:t>Android &amp; iOS via React Native / Expo</a:t>
            </a:r>
            <a:endParaRPr lang="en-US" sz="1100" dirty="0"/>
          </a:p>
        </p:txBody>
      </p:sp>
      <p:pic>
        <p:nvPicPr>
          <p:cNvPr id="30" name="Image 10" descr="preencoded.png">    </p:cNvPr>
          <p:cNvPicPr>
            <a:picLocks noChangeAspect="1"/>
          </p:cNvPicPr>
          <p:nvPr/>
        </p:nvPicPr>
        <p:blipFill>
          <a:blip r:embed="rId11"/>
          <a:stretch>
            <a:fillRect/>
          </a:stretch>
        </p:blipFill>
        <p:spPr>
          <a:xfrm>
            <a:off x="365760" y="3858768"/>
            <a:ext cx="201168" cy="201168"/>
          </a:xfrm>
          <a:prstGeom prst="rect">
            <a:avLst/>
          </a:prstGeom>
        </p:spPr>
      </p:pic>
      <p:sp>
        <p:nvSpPr>
          <p:cNvPr id="31" name="Text 18"/>
          <p:cNvSpPr/>
          <p:nvPr/>
        </p:nvSpPr>
        <p:spPr>
          <a:xfrm>
            <a:off x="640080" y="3822192"/>
            <a:ext cx="3703320" cy="320040"/>
          </a:xfrm>
          <a:prstGeom prst="rect">
            <a:avLst/>
          </a:prstGeom>
          <a:noFill/>
          <a:ln/>
        </p:spPr>
        <p:txBody>
          <a:bodyPr wrap="square" rtlCol="0" anchor="ctr"/>
          <a:lstStyle/>
          <a:p>
            <a:pPr indent="0" marL="0">
              <a:buNone/>
            </a:pPr>
            <a:r>
              <a:rPr lang="en-US" sz="1100" dirty="0">
                <a:solidFill>
                  <a:srgbClr val="2E5740"/>
                </a:solidFill>
              </a:rPr>
              <a:t>Temps de réponse &lt; 2s pour le diagnostic</a:t>
            </a:r>
            <a:endParaRPr lang="en-US" sz="1100" dirty="0"/>
          </a:p>
        </p:txBody>
      </p:sp>
      <p:pic>
        <p:nvPicPr>
          <p:cNvPr id="32" name="Image 11" descr="preencoded.png">    </p:cNvPr>
          <p:cNvPicPr>
            <a:picLocks noChangeAspect="1"/>
          </p:cNvPicPr>
          <p:nvPr/>
        </p:nvPicPr>
        <p:blipFill>
          <a:blip r:embed="rId12"/>
          <a:stretch>
            <a:fillRect/>
          </a:stretch>
        </p:blipFill>
        <p:spPr>
          <a:xfrm>
            <a:off x="365760" y="4224528"/>
            <a:ext cx="201168" cy="201168"/>
          </a:xfrm>
          <a:prstGeom prst="rect">
            <a:avLst/>
          </a:prstGeom>
        </p:spPr>
      </p:pic>
      <p:sp>
        <p:nvSpPr>
          <p:cNvPr id="33" name="Text 19"/>
          <p:cNvSpPr/>
          <p:nvPr/>
        </p:nvSpPr>
        <p:spPr>
          <a:xfrm>
            <a:off x="640080" y="4187952"/>
            <a:ext cx="3703320" cy="320040"/>
          </a:xfrm>
          <a:prstGeom prst="rect">
            <a:avLst/>
          </a:prstGeom>
          <a:noFill/>
          <a:ln/>
        </p:spPr>
        <p:txBody>
          <a:bodyPr wrap="square" rtlCol="0" anchor="ctr"/>
          <a:lstStyle/>
          <a:p>
            <a:pPr indent="0" marL="0">
              <a:buNone/>
            </a:pPr>
            <a:r>
              <a:rPr lang="en-US" sz="1100" dirty="0">
                <a:solidFill>
                  <a:srgbClr val="2E5740"/>
                </a:solidFill>
              </a:rPr>
              <a:t>Faible consommation de données mobiles</a:t>
            </a:r>
            <a:endParaRPr lang="en-US" sz="1100" dirty="0"/>
          </a:p>
        </p:txBody>
      </p:sp>
      <p:sp>
        <p:nvSpPr>
          <p:cNvPr id="34" name="Shape 20"/>
          <p:cNvSpPr/>
          <p:nvPr/>
        </p:nvSpPr>
        <p:spPr>
          <a:xfrm>
            <a:off x="4709160" y="2926080"/>
            <a:ext cx="4206240" cy="1645920"/>
          </a:xfrm>
          <a:prstGeom prst="rect">
            <a:avLst/>
          </a:prstGeom>
          <a:solidFill>
            <a:srgbClr val="FFFFFF"/>
          </a:solidFill>
          <a:ln w="12700">
            <a:solidFill>
              <a:srgbClr val="D0E8DA"/>
            </a:solidFill>
            <a:prstDash val="solid"/>
          </a:ln>
        </p:spPr>
      </p:sp>
      <p:sp>
        <p:nvSpPr>
          <p:cNvPr id="35" name="Shape 21"/>
          <p:cNvSpPr/>
          <p:nvPr/>
        </p:nvSpPr>
        <p:spPr>
          <a:xfrm>
            <a:off x="4709160" y="2926080"/>
            <a:ext cx="4206240" cy="457200"/>
          </a:xfrm>
          <a:prstGeom prst="rect">
            <a:avLst/>
          </a:prstGeom>
          <a:solidFill>
            <a:srgbClr val="0F2A1E"/>
          </a:solidFill>
          <a:ln w="12700">
            <a:solidFill>
              <a:srgbClr val="0F2A1E"/>
            </a:solidFill>
            <a:prstDash val="solid"/>
          </a:ln>
        </p:spPr>
      </p:sp>
      <p:pic>
        <p:nvPicPr>
          <p:cNvPr id="36" name="Image 12" descr="preencoded.png">    </p:cNvPr>
          <p:cNvPicPr>
            <a:picLocks noChangeAspect="1"/>
          </p:cNvPicPr>
          <p:nvPr/>
        </p:nvPicPr>
        <p:blipFill>
          <a:blip r:embed="rId13"/>
          <a:stretch>
            <a:fillRect/>
          </a:stretch>
        </p:blipFill>
        <p:spPr>
          <a:xfrm>
            <a:off x="4800600" y="3017520"/>
            <a:ext cx="274320" cy="274320"/>
          </a:xfrm>
          <a:prstGeom prst="rect">
            <a:avLst/>
          </a:prstGeom>
        </p:spPr>
      </p:pic>
      <p:sp>
        <p:nvSpPr>
          <p:cNvPr id="37" name="Text 22"/>
          <p:cNvSpPr/>
          <p:nvPr/>
        </p:nvSpPr>
        <p:spPr>
          <a:xfrm>
            <a:off x="5166360" y="2926080"/>
            <a:ext cx="3657600" cy="457200"/>
          </a:xfrm>
          <a:prstGeom prst="rect">
            <a:avLst/>
          </a:prstGeom>
          <a:noFill/>
          <a:ln/>
        </p:spPr>
        <p:txBody>
          <a:bodyPr wrap="square" rtlCol="0" anchor="ctr"/>
          <a:lstStyle/>
          <a:p>
            <a:pPr indent="0" marL="0">
              <a:buNone/>
            </a:pPr>
            <a:r>
              <a:rPr lang="en-US" sz="1400" b="1" dirty="0">
                <a:solidFill>
                  <a:srgbClr val="FFFFFF"/>
                </a:solidFill>
              </a:rPr>
              <a:t>Maintenabilité &amp; Évolutivité</a:t>
            </a:r>
            <a:endParaRPr lang="en-US" sz="1400" dirty="0"/>
          </a:p>
        </p:txBody>
      </p:sp>
      <p:pic>
        <p:nvPicPr>
          <p:cNvPr id="38" name="Image 13" descr="preencoded.png">    </p:cNvPr>
          <p:cNvPicPr>
            <a:picLocks noChangeAspect="1"/>
          </p:cNvPicPr>
          <p:nvPr/>
        </p:nvPicPr>
        <p:blipFill>
          <a:blip r:embed="rId14"/>
          <a:stretch>
            <a:fillRect/>
          </a:stretch>
        </p:blipFill>
        <p:spPr>
          <a:xfrm>
            <a:off x="4846320" y="3493008"/>
            <a:ext cx="201168" cy="201168"/>
          </a:xfrm>
          <a:prstGeom prst="rect">
            <a:avLst/>
          </a:prstGeom>
        </p:spPr>
      </p:pic>
      <p:sp>
        <p:nvSpPr>
          <p:cNvPr id="39" name="Text 23"/>
          <p:cNvSpPr/>
          <p:nvPr/>
        </p:nvSpPr>
        <p:spPr>
          <a:xfrm>
            <a:off x="5120640" y="3456432"/>
            <a:ext cx="3703320" cy="320040"/>
          </a:xfrm>
          <a:prstGeom prst="rect">
            <a:avLst/>
          </a:prstGeom>
          <a:noFill/>
          <a:ln/>
        </p:spPr>
        <p:txBody>
          <a:bodyPr wrap="square" rtlCol="0" anchor="ctr"/>
          <a:lstStyle/>
          <a:p>
            <a:pPr indent="0" marL="0">
              <a:buNone/>
            </a:pPr>
            <a:r>
              <a:rPr lang="en-US" sz="1100" dirty="0">
                <a:solidFill>
                  <a:srgbClr val="2E5740"/>
                </a:solidFill>
              </a:rPr>
              <a:t>Code modulaire (MVC côté client)</a:t>
            </a:r>
            <a:endParaRPr lang="en-US" sz="1100" dirty="0"/>
          </a:p>
        </p:txBody>
      </p:sp>
      <p:pic>
        <p:nvPicPr>
          <p:cNvPr id="40" name="Image 14" descr="preencoded.png">    </p:cNvPr>
          <p:cNvPicPr>
            <a:picLocks noChangeAspect="1"/>
          </p:cNvPicPr>
          <p:nvPr/>
        </p:nvPicPr>
        <p:blipFill>
          <a:blip r:embed="rId15"/>
          <a:stretch>
            <a:fillRect/>
          </a:stretch>
        </p:blipFill>
        <p:spPr>
          <a:xfrm>
            <a:off x="4846320" y="3858768"/>
            <a:ext cx="201168" cy="201168"/>
          </a:xfrm>
          <a:prstGeom prst="rect">
            <a:avLst/>
          </a:prstGeom>
        </p:spPr>
      </p:pic>
      <p:sp>
        <p:nvSpPr>
          <p:cNvPr id="41" name="Text 24"/>
          <p:cNvSpPr/>
          <p:nvPr/>
        </p:nvSpPr>
        <p:spPr>
          <a:xfrm>
            <a:off x="5120640" y="3822192"/>
            <a:ext cx="3703320" cy="320040"/>
          </a:xfrm>
          <a:prstGeom prst="rect">
            <a:avLst/>
          </a:prstGeom>
          <a:noFill/>
          <a:ln/>
        </p:spPr>
        <p:txBody>
          <a:bodyPr wrap="square" rtlCol="0" anchor="ctr"/>
          <a:lstStyle/>
          <a:p>
            <a:pPr indent="0" marL="0">
              <a:buNone/>
            </a:pPr>
            <a:r>
              <a:rPr lang="en-US" sz="1100" dirty="0">
                <a:solidFill>
                  <a:srgbClr val="2E5740"/>
                </a:solidFill>
              </a:rPr>
              <a:t>Mise à jour facile de la base de connaissances</a:t>
            </a:r>
            <a:endParaRPr lang="en-US" sz="1100" dirty="0"/>
          </a:p>
        </p:txBody>
      </p:sp>
      <p:pic>
        <p:nvPicPr>
          <p:cNvPr id="42" name="Image 15" descr="preencoded.png">    </p:cNvPr>
          <p:cNvPicPr>
            <a:picLocks noChangeAspect="1"/>
          </p:cNvPicPr>
          <p:nvPr/>
        </p:nvPicPr>
        <p:blipFill>
          <a:blip r:embed="rId16"/>
          <a:stretch>
            <a:fillRect/>
          </a:stretch>
        </p:blipFill>
        <p:spPr>
          <a:xfrm>
            <a:off x="4846320" y="4224528"/>
            <a:ext cx="201168" cy="201168"/>
          </a:xfrm>
          <a:prstGeom prst="rect">
            <a:avLst/>
          </a:prstGeom>
        </p:spPr>
      </p:pic>
      <p:sp>
        <p:nvSpPr>
          <p:cNvPr id="43" name="Text 25"/>
          <p:cNvSpPr/>
          <p:nvPr/>
        </p:nvSpPr>
        <p:spPr>
          <a:xfrm>
            <a:off x="5120640" y="4187952"/>
            <a:ext cx="3703320" cy="320040"/>
          </a:xfrm>
          <a:prstGeom prst="rect">
            <a:avLst/>
          </a:prstGeom>
          <a:noFill/>
          <a:ln/>
        </p:spPr>
        <p:txBody>
          <a:bodyPr wrap="square" rtlCol="0" anchor="ctr"/>
          <a:lstStyle/>
          <a:p>
            <a:pPr indent="0" marL="0">
              <a:buNone/>
            </a:pPr>
            <a:r>
              <a:rPr lang="en-US" sz="1100" dirty="0">
                <a:solidFill>
                  <a:srgbClr val="2E5740"/>
                </a:solidFill>
              </a:rPr>
              <a:t>Architecture prête pour intégration IA réelle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AF4"/>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F2A1E"/>
          </a:solidFill>
          <a:ln w="12700">
            <a:solidFill>
              <a:srgbClr val="0F2A1E"/>
            </a:solidFill>
            <a:prstDash val="solid"/>
          </a:ln>
        </p:spPr>
      </p:sp>
      <p:sp>
        <p:nvSpPr>
          <p:cNvPr id="3" name="Text 1"/>
          <p:cNvSpPr/>
          <p:nvPr/>
        </p:nvSpPr>
        <p:spPr>
          <a:xfrm>
            <a:off x="457200" y="0"/>
            <a:ext cx="8229600" cy="960120"/>
          </a:xfrm>
          <a:prstGeom prst="rect">
            <a:avLst/>
          </a:prstGeom>
          <a:noFill/>
          <a:ln/>
        </p:spPr>
        <p:txBody>
          <a:bodyPr wrap="square" rtlCol="0" anchor="ctr"/>
          <a:lstStyle/>
          <a:p>
            <a:pPr indent="0" marL="0">
              <a:buNone/>
            </a:pPr>
            <a:r>
              <a:rPr lang="en-US" sz="3000" b="1" dirty="0">
                <a:solidFill>
                  <a:srgbClr val="FFFFFF"/>
                </a:solidFill>
              </a:rPr>
              <a:t>Étude Financière</a:t>
            </a:r>
            <a:endParaRPr lang="en-US" sz="3000" dirty="0"/>
          </a:p>
        </p:txBody>
      </p:sp>
      <p:pic>
        <p:nvPicPr>
          <p:cNvPr id="4" name="Image 0" descr="preencoded.png">    </p:cNvPr>
          <p:cNvPicPr>
            <a:picLocks noChangeAspect="1"/>
          </p:cNvPicPr>
          <p:nvPr/>
        </p:nvPicPr>
        <p:blipFill>
          <a:blip r:embed="rId1"/>
          <a:stretch>
            <a:fillRect/>
          </a:stretch>
        </p:blipFill>
        <p:spPr>
          <a:xfrm>
            <a:off x="8321040" y="201168"/>
            <a:ext cx="548640" cy="548640"/>
          </a:xfrm>
          <a:prstGeom prst="rect">
            <a:avLst/>
          </a:prstGeom>
        </p:spPr>
      </p:pic>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65760" y="1097280"/>
          <a:ext cx="8412480" cy="3474720"/>
        </p:xfrm>
        <a:graphic>
          <a:graphicData uri="http://schemas.openxmlformats.org/drawingml/2006/table">
            <a:tbl>
              <a:tblPr/>
              <a:tblGrid>
                <a:gridCol w="2804160"/>
                <a:gridCol w="2804160"/>
                <a:gridCol w="2804160"/>
              </a:tblGrid>
              <a:tr h="43891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Poste de Dépense</a:t>
                      </a:r>
                      <a:endParaRPr lang="en-US" sz="1200" dirty="0">
                        <a:latin typeface="Calibri" charset="0"/>
                        <a:ea typeface="Calibri" charset="0"/>
                        <a:cs typeface="Calibri" charset="0"/>
                      </a:endParaRPr>
                    </a:p>
                  </a:txBody>
                  <a:tcPr marL="91440" marR="91440" marT="45720" marB="45720">
                    <a:lnL w="12700" cap="flat" cmpd="sng" algn="ctr">
                      <a:solidFill>
                        <a:srgbClr val="C8E6C9"/>
                      </a:solidFill>
                      <a:prstDash val="solid"/>
                      <a:round/>
                      <a:headEnd type="none" w="med" len="med"/>
                      <a:tailEnd type="none" w="med" len="med"/>
                    </a:lnL>
                    <a:lnR w="12700" cap="flat" cmpd="sng" algn="ctr">
                      <a:solidFill>
                        <a:srgbClr val="C8E6C9"/>
                      </a:solidFill>
                      <a:prstDash val="solid"/>
                      <a:round/>
                      <a:headEnd type="none" w="med" len="med"/>
                      <a:tailEnd type="none" w="med" len="med"/>
                    </a:lnR>
                    <a:lnT w="12700" cap="flat" cmpd="sng" algn="ctr">
                      <a:solidFill>
                        <a:srgbClr val="C8E6C9"/>
                      </a:solidFill>
                      <a:prstDash val="solid"/>
                      <a:round/>
                      <a:headEnd type="none" w="med" len="med"/>
                      <a:tailEnd type="none" w="med" len="med"/>
                    </a:lnT>
                    <a:lnB w="12700" cap="flat" cmpd="sng" algn="ctr">
                      <a:solidFill>
                        <a:srgbClr val="C8E6C9"/>
                      </a:solidFill>
                      <a:prstDash val="solid"/>
                      <a:round/>
                      <a:headEnd type="none" w="med" len="med"/>
                      <a:tailEnd type="none" w="med" len="med"/>
                    </a:lnB>
                    <a:solidFill>
                      <a:srgbClr val="0F2A1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Description</a:t>
                      </a:r>
                      <a:endParaRPr lang="en-US" sz="1200" dirty="0">
                        <a:latin typeface="Calibri" charset="0"/>
                        <a:ea typeface="Calibri" charset="0"/>
                        <a:cs typeface="Calibri" charset="0"/>
                      </a:endParaRPr>
                    </a:p>
                  </a:txBody>
                  <a:tcPr marL="91440" marR="91440" marT="45720" marB="45720">
                    <a:lnL w="12700" cap="flat" cmpd="sng" algn="ctr">
                      <a:solidFill>
                        <a:srgbClr val="C8E6C9"/>
                      </a:solidFill>
                      <a:prstDash val="solid"/>
                      <a:round/>
                      <a:headEnd type="none" w="med" len="med"/>
                      <a:tailEnd type="none" w="med" len="med"/>
                    </a:lnL>
                    <a:lnR w="12700" cap="flat" cmpd="sng" algn="ctr">
                      <a:solidFill>
                        <a:srgbClr val="C8E6C9"/>
                      </a:solidFill>
                      <a:prstDash val="solid"/>
                      <a:round/>
                      <a:headEnd type="none" w="med" len="med"/>
                      <a:tailEnd type="none" w="med" len="med"/>
                    </a:lnR>
                    <a:lnT w="12700" cap="flat" cmpd="sng" algn="ctr">
                      <a:solidFill>
                        <a:srgbClr val="C8E6C9"/>
                      </a:solidFill>
                      <a:prstDash val="solid"/>
                      <a:round/>
                      <a:headEnd type="none" w="med" len="med"/>
                      <a:tailEnd type="none" w="med" len="med"/>
                    </a:lnT>
                    <a:lnB w="12700" cap="flat" cmpd="sng" algn="ctr">
                      <a:solidFill>
                        <a:srgbClr val="C8E6C9"/>
                      </a:solidFill>
                      <a:prstDash val="solid"/>
                      <a:round/>
                      <a:headEnd type="none" w="med" len="med"/>
                      <a:tailEnd type="none" w="med" len="med"/>
                    </a:lnB>
                    <a:solidFill>
                      <a:srgbClr val="0F2A1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Coût estimé (FCFA)</a:t>
                      </a:r>
                      <a:endParaRPr lang="en-US" sz="1200" dirty="0">
                        <a:latin typeface="Calibri" charset="0"/>
                        <a:ea typeface="Calibri" charset="0"/>
                        <a:cs typeface="Calibri" charset="0"/>
                      </a:endParaRPr>
                    </a:p>
                  </a:txBody>
                  <a:tcPr marL="91440" marR="91440" marT="45720" marB="45720">
                    <a:lnL w="12700" cap="flat" cmpd="sng" algn="ctr">
                      <a:solidFill>
                        <a:srgbClr val="C8E6C9"/>
                      </a:solidFill>
                      <a:prstDash val="solid"/>
                      <a:round/>
                      <a:headEnd type="none" w="med" len="med"/>
                      <a:tailEnd type="none" w="med" len="med"/>
                    </a:lnL>
                    <a:lnR w="12700" cap="flat" cmpd="sng" algn="ctr">
                      <a:solidFill>
                        <a:srgbClr val="C8E6C9"/>
                      </a:solidFill>
                      <a:prstDash val="solid"/>
                      <a:round/>
                      <a:headEnd type="none" w="med" len="med"/>
                      <a:tailEnd type="none" w="med" len="med"/>
                    </a:lnR>
                    <a:lnT w="12700" cap="flat" cmpd="sng" algn="ctr">
                      <a:solidFill>
                        <a:srgbClr val="C8E6C9"/>
                      </a:solidFill>
                      <a:prstDash val="solid"/>
                      <a:round/>
                      <a:headEnd type="none" w="med" len="med"/>
                      <a:tailEnd type="none" w="med" len="med"/>
                    </a:lnT>
                    <a:lnB w="12700" cap="flat" cmpd="sng" algn="ctr">
                      <a:solidFill>
                        <a:srgbClr val="C8E6C9"/>
                      </a:solidFill>
                      <a:prstDash val="solid"/>
                      <a:round/>
                      <a:headEnd type="none" w="med" len="med"/>
                      <a:tailEnd type="none" w="med" len="med"/>
                    </a:lnB>
                    <a:solidFill>
                      <a:srgbClr val="0F2A1E"/>
                    </a:solidFill>
                  </a:tcPr>
                </a:tc>
              </a:tr>
              <a:tr h="438912">
                <a:tc>
                  <a:txBody>
                    <a:bodyPr/>
                    <a:lstStyle/>
                    <a:p>
                      <a:pPr indent="0" marL="0">
                        <a:buNone/>
                      </a:pPr>
                      <a:r>
                        <a:rPr lang="en-US" sz="1100" dirty="0">
                          <a:solidFill>
                            <a:srgbClr val="0D1F17"/>
                          </a:solidFill>
                          <a:latin typeface="Calibri" pitchFamily="34" charset="0"/>
                          <a:ea typeface="Calibri" pitchFamily="34" charset="-122"/>
                          <a:cs typeface="Calibri" pitchFamily="34" charset="-120"/>
                        </a:rPr>
                        <a:t>Développement logiciel</a:t>
                      </a:r>
                      <a:endParaRPr lang="en-US" sz="1100" dirty="0">
                        <a:latin typeface="Calibri" charset="0"/>
                        <a:ea typeface="Calibri" charset="0"/>
                        <a:cs typeface="Calibri" charset="0"/>
                      </a:endParaRPr>
                    </a:p>
                  </a:txBody>
                  <a:tcPr marL="91440" marR="91440" marT="45720" marB="45720">
                    <a:lnL w="12700" cap="flat" cmpd="sng" algn="ctr">
                      <a:solidFill>
                        <a:srgbClr val="C8E6C9"/>
                      </a:solidFill>
                      <a:prstDash val="solid"/>
                      <a:round/>
                      <a:headEnd type="none" w="med" len="med"/>
                      <a:tailEnd type="none" w="med" len="med"/>
                    </a:lnL>
                    <a:lnR w="12700" cap="flat" cmpd="sng" algn="ctr">
                      <a:solidFill>
                        <a:srgbClr val="C8E6C9"/>
                      </a:solidFill>
                      <a:prstDash val="solid"/>
                      <a:round/>
                      <a:headEnd type="none" w="med" len="med"/>
                      <a:tailEnd type="none" w="med" len="med"/>
                    </a:lnR>
                    <a:lnT w="12700" cap="flat" cmpd="sng" algn="ctr">
                      <a:solidFill>
                        <a:srgbClr val="C8E6C9"/>
                      </a:solidFill>
                      <a:prstDash val="solid"/>
                      <a:round/>
                      <a:headEnd type="none" w="med" len="med"/>
                      <a:tailEnd type="none" w="med" len="med"/>
                    </a:lnT>
                    <a:lnB w="12700" cap="flat" cmpd="sng" algn="ctr">
                      <a:solidFill>
                        <a:srgbClr val="C8E6C9"/>
                      </a:solidFill>
                      <a:prstDash val="solid"/>
                      <a:round/>
                      <a:headEnd type="none" w="med" len="med"/>
                      <a:tailEnd type="none" w="med" len="med"/>
                    </a:lnB>
                    <a:solidFill>
                      <a:srgbClr val="FFFFFF"/>
                    </a:solidFill>
                  </a:tcPr>
                </a:tc>
                <a:tc>
                  <a:txBody>
                    <a:bodyPr/>
                    <a:lstStyle/>
                    <a:p>
                      <a:pPr indent="0" marL="0">
                        <a:buNone/>
                      </a:pPr>
                      <a:r>
                        <a:rPr lang="en-US" sz="1100" dirty="0">
                          <a:solidFill>
                            <a:srgbClr val="0D1F17"/>
                          </a:solidFill>
                          <a:latin typeface="Calibri" pitchFamily="34" charset="0"/>
                          <a:ea typeface="Calibri" pitchFamily="34" charset="-122"/>
                          <a:cs typeface="Calibri" pitchFamily="34" charset="-120"/>
                        </a:rPr>
                        <a:t>Développement de l'application (React Native, Expo)</a:t>
                      </a:r>
                      <a:endParaRPr lang="en-US" sz="1100" dirty="0">
                        <a:latin typeface="Calibri" charset="0"/>
                        <a:ea typeface="Calibri" charset="0"/>
                        <a:cs typeface="Calibri" charset="0"/>
                      </a:endParaRPr>
                    </a:p>
                  </a:txBody>
                  <a:tcPr marL="91440" marR="91440" marT="45720" marB="45720">
                    <a:lnL w="12700" cap="flat" cmpd="sng" algn="ctr">
                      <a:solidFill>
                        <a:srgbClr val="C8E6C9"/>
                      </a:solidFill>
                      <a:prstDash val="solid"/>
                      <a:round/>
                      <a:headEnd type="none" w="med" len="med"/>
                      <a:tailEnd type="none" w="med" len="med"/>
                    </a:lnL>
                    <a:lnR w="12700" cap="flat" cmpd="sng" algn="ctr">
                      <a:solidFill>
                        <a:srgbClr val="C8E6C9"/>
                      </a:solidFill>
                      <a:prstDash val="solid"/>
                      <a:round/>
                      <a:headEnd type="none" w="med" len="med"/>
                      <a:tailEnd type="none" w="med" len="med"/>
                    </a:lnR>
                    <a:lnT w="12700" cap="flat" cmpd="sng" algn="ctr">
                      <a:solidFill>
                        <a:srgbClr val="C8E6C9"/>
                      </a:solidFill>
                      <a:prstDash val="solid"/>
                      <a:round/>
                      <a:headEnd type="none" w="med" len="med"/>
                      <a:tailEnd type="none" w="med" len="med"/>
                    </a:lnT>
                    <a:lnB w="12700" cap="flat" cmpd="sng" algn="ctr">
                      <a:solidFill>
                        <a:srgbClr val="C8E6C9"/>
                      </a:solidFill>
                      <a:prstDash val="solid"/>
                      <a:round/>
                      <a:headEnd type="none" w="med" len="med"/>
                      <a:tailEnd type="none" w="med" len="med"/>
                    </a:lnB>
                    <a:solidFill>
                      <a:srgbClr val="FFFFFF"/>
                    </a:solidFill>
                  </a:tcPr>
                </a:tc>
                <a:tc>
                  <a:txBody>
                    <a:bodyPr/>
                    <a:lstStyle/>
                    <a:p>
                      <a:pPr indent="0" marL="0">
                        <a:buNone/>
                      </a:pPr>
                      <a:r>
                        <a:rPr lang="en-US" sz="1100" dirty="0">
                          <a:solidFill>
                            <a:srgbClr val="0D1F17"/>
                          </a:solidFill>
                          <a:latin typeface="Calibri" pitchFamily="34" charset="0"/>
                          <a:ea typeface="Calibri" pitchFamily="34" charset="-122"/>
                          <a:cs typeface="Calibri" pitchFamily="34" charset="-120"/>
                        </a:rPr>
                        <a:t>Bénévolat / Stage</a:t>
                      </a:r>
                      <a:endParaRPr lang="en-US" sz="1100" dirty="0">
                        <a:latin typeface="Calibri" charset="0"/>
                        <a:ea typeface="Calibri" charset="0"/>
                        <a:cs typeface="Calibri" charset="0"/>
                      </a:endParaRPr>
                    </a:p>
                  </a:txBody>
                  <a:tcPr marL="91440" marR="91440" marT="45720" marB="45720">
                    <a:lnL w="12700" cap="flat" cmpd="sng" algn="ctr">
                      <a:solidFill>
                        <a:srgbClr val="C8E6C9"/>
                      </a:solidFill>
                      <a:prstDash val="solid"/>
                      <a:round/>
                      <a:headEnd type="none" w="med" len="med"/>
                      <a:tailEnd type="none" w="med" len="med"/>
                    </a:lnL>
                    <a:lnR w="12700" cap="flat" cmpd="sng" algn="ctr">
                      <a:solidFill>
                        <a:srgbClr val="C8E6C9"/>
                      </a:solidFill>
                      <a:prstDash val="solid"/>
                      <a:round/>
                      <a:headEnd type="none" w="med" len="med"/>
                      <a:tailEnd type="none" w="med" len="med"/>
                    </a:lnR>
                    <a:lnT w="12700" cap="flat" cmpd="sng" algn="ctr">
                      <a:solidFill>
                        <a:srgbClr val="C8E6C9"/>
                      </a:solidFill>
                      <a:prstDash val="solid"/>
                      <a:round/>
                      <a:headEnd type="none" w="med" len="med"/>
                      <a:tailEnd type="none" w="med" len="med"/>
                    </a:lnT>
                    <a:lnB w="12700" cap="flat" cmpd="sng" algn="ctr">
                      <a:solidFill>
                        <a:srgbClr val="C8E6C9"/>
                      </a:solidFill>
                      <a:prstDash val="solid"/>
                      <a:round/>
                      <a:headEnd type="none" w="med" len="med"/>
                      <a:tailEnd type="none" w="med" len="med"/>
                    </a:lnB>
                    <a:solidFill>
                      <a:srgbClr val="FFFFFF"/>
                    </a:solidFill>
                  </a:tcPr>
                </a:tc>
              </a:tr>
              <a:tr h="438912">
                <a:tc>
                  <a:txBody>
                    <a:bodyPr/>
                    <a:lstStyle/>
                    <a:p>
                      <a:pPr indent="0" marL="0">
                        <a:buNone/>
                      </a:pPr>
                      <a:r>
                        <a:rPr lang="en-US" sz="1100" dirty="0">
                          <a:solidFill>
                            <a:srgbClr val="0D1F17"/>
                          </a:solidFill>
                          <a:latin typeface="Calibri" pitchFamily="34" charset="0"/>
                          <a:ea typeface="Calibri" pitchFamily="34" charset="-122"/>
                          <a:cs typeface="Calibri" pitchFamily="34" charset="-120"/>
                        </a:rPr>
                        <a:t>Infrastructure Firebase</a:t>
                      </a:r>
                      <a:endParaRPr lang="en-US" sz="1100" dirty="0">
                        <a:latin typeface="Calibri" charset="0"/>
                        <a:ea typeface="Calibri" charset="0"/>
                        <a:cs typeface="Calibri" charset="0"/>
                      </a:endParaRPr>
                    </a:p>
                  </a:txBody>
                  <a:tcPr marL="91440" marR="91440" marT="45720" marB="45720">
                    <a:lnL w="12700" cap="flat" cmpd="sng" algn="ctr">
                      <a:solidFill>
                        <a:srgbClr val="C8E6C9"/>
                      </a:solidFill>
                      <a:prstDash val="solid"/>
                      <a:round/>
                      <a:headEnd type="none" w="med" len="med"/>
                      <a:tailEnd type="none" w="med" len="med"/>
                    </a:lnL>
                    <a:lnR w="12700" cap="flat" cmpd="sng" algn="ctr">
                      <a:solidFill>
                        <a:srgbClr val="C8E6C9"/>
                      </a:solidFill>
                      <a:prstDash val="solid"/>
                      <a:round/>
                      <a:headEnd type="none" w="med" len="med"/>
                      <a:tailEnd type="none" w="med" len="med"/>
                    </a:lnR>
                    <a:lnT w="12700" cap="flat" cmpd="sng" algn="ctr">
                      <a:solidFill>
                        <a:srgbClr val="C8E6C9"/>
                      </a:solidFill>
                      <a:prstDash val="solid"/>
                      <a:round/>
                      <a:headEnd type="none" w="med" len="med"/>
                      <a:tailEnd type="none" w="med" len="med"/>
                    </a:lnT>
                    <a:lnB w="12700" cap="flat" cmpd="sng" algn="ctr">
                      <a:solidFill>
                        <a:srgbClr val="C8E6C9"/>
                      </a:solidFill>
                      <a:prstDash val="solid"/>
                      <a:round/>
                      <a:headEnd type="none" w="med" len="med"/>
                      <a:tailEnd type="none" w="med" len="med"/>
                    </a:lnB>
                    <a:solidFill>
                      <a:srgbClr val="FFFFFF"/>
                    </a:solidFill>
                  </a:tcPr>
                </a:tc>
                <a:tc>
                  <a:txBody>
                    <a:bodyPr/>
                    <a:lstStyle/>
                    <a:p>
                      <a:pPr indent="0" marL="0">
                        <a:buNone/>
                      </a:pPr>
                      <a:r>
                        <a:rPr lang="en-US" sz="1100" dirty="0">
                          <a:solidFill>
                            <a:srgbClr val="0D1F17"/>
                          </a:solidFill>
                          <a:latin typeface="Calibri" pitchFamily="34" charset="0"/>
                          <a:ea typeface="Calibri" pitchFamily="34" charset="-122"/>
                          <a:cs typeface="Calibri" pitchFamily="34" charset="-120"/>
                        </a:rPr>
                        <a:t>Authentification &amp; stockage cloud (plan Spark gratuit)</a:t>
                      </a:r>
                      <a:endParaRPr lang="en-US" sz="1100" dirty="0">
                        <a:latin typeface="Calibri" charset="0"/>
                        <a:ea typeface="Calibri" charset="0"/>
                        <a:cs typeface="Calibri" charset="0"/>
                      </a:endParaRPr>
                    </a:p>
                  </a:txBody>
                  <a:tcPr marL="91440" marR="91440" marT="45720" marB="45720">
                    <a:lnL w="12700" cap="flat" cmpd="sng" algn="ctr">
                      <a:solidFill>
                        <a:srgbClr val="C8E6C9"/>
                      </a:solidFill>
                      <a:prstDash val="solid"/>
                      <a:round/>
                      <a:headEnd type="none" w="med" len="med"/>
                      <a:tailEnd type="none" w="med" len="med"/>
                    </a:lnL>
                    <a:lnR w="12700" cap="flat" cmpd="sng" algn="ctr">
                      <a:solidFill>
                        <a:srgbClr val="C8E6C9"/>
                      </a:solidFill>
                      <a:prstDash val="solid"/>
                      <a:round/>
                      <a:headEnd type="none" w="med" len="med"/>
                      <a:tailEnd type="none" w="med" len="med"/>
                    </a:lnR>
                    <a:lnT w="12700" cap="flat" cmpd="sng" algn="ctr">
                      <a:solidFill>
                        <a:srgbClr val="C8E6C9"/>
                      </a:solidFill>
                      <a:prstDash val="solid"/>
                      <a:round/>
                      <a:headEnd type="none" w="med" len="med"/>
                      <a:tailEnd type="none" w="med" len="med"/>
                    </a:lnT>
                    <a:lnB w="12700" cap="flat" cmpd="sng" algn="ctr">
                      <a:solidFill>
                        <a:srgbClr val="C8E6C9"/>
                      </a:solidFill>
                      <a:prstDash val="solid"/>
                      <a:round/>
                      <a:headEnd type="none" w="med" len="med"/>
                      <a:tailEnd type="none" w="med" len="med"/>
                    </a:lnB>
                    <a:solidFill>
                      <a:srgbClr val="FFFFFF"/>
                    </a:solidFill>
                  </a:tcPr>
                </a:tc>
                <a:tc>
                  <a:txBody>
                    <a:bodyPr/>
                    <a:lstStyle/>
                    <a:p>
                      <a:pPr indent="0" marL="0">
                        <a:buNone/>
                      </a:pPr>
                      <a:r>
                        <a:rPr lang="en-US" sz="1100" dirty="0">
                          <a:solidFill>
                            <a:srgbClr val="0D1F17"/>
                          </a:solidFill>
                          <a:latin typeface="Calibri" pitchFamily="34" charset="0"/>
                          <a:ea typeface="Calibri" pitchFamily="34" charset="-122"/>
                          <a:cs typeface="Calibri" pitchFamily="34" charset="-120"/>
                        </a:rPr>
                        <a:t>0 FCFA</a:t>
                      </a:r>
                      <a:endParaRPr lang="en-US" sz="1100" dirty="0">
                        <a:latin typeface="Calibri" charset="0"/>
                        <a:ea typeface="Calibri" charset="0"/>
                        <a:cs typeface="Calibri" charset="0"/>
                      </a:endParaRPr>
                    </a:p>
                  </a:txBody>
                  <a:tcPr marL="91440" marR="91440" marT="45720" marB="45720">
                    <a:lnL w="12700" cap="flat" cmpd="sng" algn="ctr">
                      <a:solidFill>
                        <a:srgbClr val="C8E6C9"/>
                      </a:solidFill>
                      <a:prstDash val="solid"/>
                      <a:round/>
                      <a:headEnd type="none" w="med" len="med"/>
                      <a:tailEnd type="none" w="med" len="med"/>
                    </a:lnL>
                    <a:lnR w="12700" cap="flat" cmpd="sng" algn="ctr">
                      <a:solidFill>
                        <a:srgbClr val="C8E6C9"/>
                      </a:solidFill>
                      <a:prstDash val="solid"/>
                      <a:round/>
                      <a:headEnd type="none" w="med" len="med"/>
                      <a:tailEnd type="none" w="med" len="med"/>
                    </a:lnR>
                    <a:lnT w="12700" cap="flat" cmpd="sng" algn="ctr">
                      <a:solidFill>
                        <a:srgbClr val="C8E6C9"/>
                      </a:solidFill>
                      <a:prstDash val="solid"/>
                      <a:round/>
                      <a:headEnd type="none" w="med" len="med"/>
                      <a:tailEnd type="none" w="med" len="med"/>
                    </a:lnT>
                    <a:lnB w="12700" cap="flat" cmpd="sng" algn="ctr">
                      <a:solidFill>
                        <a:srgbClr val="C8E6C9"/>
                      </a:solidFill>
                      <a:prstDash val="solid"/>
                      <a:round/>
                      <a:headEnd type="none" w="med" len="med"/>
                      <a:tailEnd type="none" w="med" len="med"/>
                    </a:lnB>
                    <a:solidFill>
                      <a:srgbClr val="FFFFFF"/>
                    </a:solidFill>
                  </a:tcPr>
                </a:tc>
              </a:tr>
              <a:tr h="438912">
                <a:tc>
                  <a:txBody>
                    <a:bodyPr/>
                    <a:lstStyle/>
                    <a:p>
                      <a:pPr indent="0" marL="0">
                        <a:buNone/>
                      </a:pPr>
                      <a:r>
                        <a:rPr lang="en-US" sz="1100" dirty="0">
                          <a:solidFill>
                            <a:srgbClr val="0D1F17"/>
                          </a:solidFill>
                          <a:latin typeface="Calibri" pitchFamily="34" charset="0"/>
                          <a:ea typeface="Calibri" pitchFamily="34" charset="-122"/>
                          <a:cs typeface="Calibri" pitchFamily="34" charset="-120"/>
                        </a:rPr>
                        <a:t>API Météo (Open-Meteo)</a:t>
                      </a:r>
                      <a:endParaRPr lang="en-US" sz="1100" dirty="0">
                        <a:latin typeface="Calibri" charset="0"/>
                        <a:ea typeface="Calibri" charset="0"/>
                        <a:cs typeface="Calibri" charset="0"/>
                      </a:endParaRPr>
                    </a:p>
                  </a:txBody>
                  <a:tcPr marL="91440" marR="91440" marT="45720" marB="45720">
                    <a:lnL w="12700" cap="flat" cmpd="sng" algn="ctr">
                      <a:solidFill>
                        <a:srgbClr val="C8E6C9"/>
                      </a:solidFill>
                      <a:prstDash val="solid"/>
                      <a:round/>
                      <a:headEnd type="none" w="med" len="med"/>
                      <a:tailEnd type="none" w="med" len="med"/>
                    </a:lnL>
                    <a:lnR w="12700" cap="flat" cmpd="sng" algn="ctr">
                      <a:solidFill>
                        <a:srgbClr val="C8E6C9"/>
                      </a:solidFill>
                      <a:prstDash val="solid"/>
                      <a:round/>
                      <a:headEnd type="none" w="med" len="med"/>
                      <a:tailEnd type="none" w="med" len="med"/>
                    </a:lnR>
                    <a:lnT w="12700" cap="flat" cmpd="sng" algn="ctr">
                      <a:solidFill>
                        <a:srgbClr val="C8E6C9"/>
                      </a:solidFill>
                      <a:prstDash val="solid"/>
                      <a:round/>
                      <a:headEnd type="none" w="med" len="med"/>
                      <a:tailEnd type="none" w="med" len="med"/>
                    </a:lnT>
                    <a:lnB w="12700" cap="flat" cmpd="sng" algn="ctr">
                      <a:solidFill>
                        <a:srgbClr val="C8E6C9"/>
                      </a:solidFill>
                      <a:prstDash val="solid"/>
                      <a:round/>
                      <a:headEnd type="none" w="med" len="med"/>
                      <a:tailEnd type="none" w="med" len="med"/>
                    </a:lnB>
                    <a:solidFill>
                      <a:srgbClr val="FFFFFF"/>
                    </a:solidFill>
                  </a:tcPr>
                </a:tc>
                <a:tc>
                  <a:txBody>
                    <a:bodyPr/>
                    <a:lstStyle/>
                    <a:p>
                      <a:pPr indent="0" marL="0">
                        <a:buNone/>
                      </a:pPr>
                      <a:r>
                        <a:rPr lang="en-US" sz="1100" dirty="0">
                          <a:solidFill>
                            <a:srgbClr val="0D1F17"/>
                          </a:solidFill>
                          <a:latin typeface="Calibri" pitchFamily="34" charset="0"/>
                          <a:ea typeface="Calibri" pitchFamily="34" charset="-122"/>
                          <a:cs typeface="Calibri" pitchFamily="34" charset="-120"/>
                        </a:rPr>
                        <a:t>Prévisions météo (API open source gratuite)</a:t>
                      </a:r>
                      <a:endParaRPr lang="en-US" sz="1100" dirty="0">
                        <a:latin typeface="Calibri" charset="0"/>
                        <a:ea typeface="Calibri" charset="0"/>
                        <a:cs typeface="Calibri" charset="0"/>
                      </a:endParaRPr>
                    </a:p>
                  </a:txBody>
                  <a:tcPr marL="91440" marR="91440" marT="45720" marB="45720">
                    <a:lnL w="12700" cap="flat" cmpd="sng" algn="ctr">
                      <a:solidFill>
                        <a:srgbClr val="C8E6C9"/>
                      </a:solidFill>
                      <a:prstDash val="solid"/>
                      <a:round/>
                      <a:headEnd type="none" w="med" len="med"/>
                      <a:tailEnd type="none" w="med" len="med"/>
                    </a:lnL>
                    <a:lnR w="12700" cap="flat" cmpd="sng" algn="ctr">
                      <a:solidFill>
                        <a:srgbClr val="C8E6C9"/>
                      </a:solidFill>
                      <a:prstDash val="solid"/>
                      <a:round/>
                      <a:headEnd type="none" w="med" len="med"/>
                      <a:tailEnd type="none" w="med" len="med"/>
                    </a:lnR>
                    <a:lnT w="12700" cap="flat" cmpd="sng" algn="ctr">
                      <a:solidFill>
                        <a:srgbClr val="C8E6C9"/>
                      </a:solidFill>
                      <a:prstDash val="solid"/>
                      <a:round/>
                      <a:headEnd type="none" w="med" len="med"/>
                      <a:tailEnd type="none" w="med" len="med"/>
                    </a:lnT>
                    <a:lnB w="12700" cap="flat" cmpd="sng" algn="ctr">
                      <a:solidFill>
                        <a:srgbClr val="C8E6C9"/>
                      </a:solidFill>
                      <a:prstDash val="solid"/>
                      <a:round/>
                      <a:headEnd type="none" w="med" len="med"/>
                      <a:tailEnd type="none" w="med" len="med"/>
                    </a:lnB>
                    <a:solidFill>
                      <a:srgbClr val="FFFFFF"/>
                    </a:solidFill>
                  </a:tcPr>
                </a:tc>
                <a:tc>
                  <a:txBody>
                    <a:bodyPr/>
                    <a:lstStyle/>
                    <a:p>
                      <a:pPr indent="0" marL="0">
                        <a:buNone/>
                      </a:pPr>
                      <a:r>
                        <a:rPr lang="en-US" sz="1100" dirty="0">
                          <a:solidFill>
                            <a:srgbClr val="0D1F17"/>
                          </a:solidFill>
                          <a:latin typeface="Calibri" pitchFamily="34" charset="0"/>
                          <a:ea typeface="Calibri" pitchFamily="34" charset="-122"/>
                          <a:cs typeface="Calibri" pitchFamily="34" charset="-120"/>
                        </a:rPr>
                        <a:t>0 FCFA</a:t>
                      </a:r>
                      <a:endParaRPr lang="en-US" sz="1100" dirty="0">
                        <a:latin typeface="Calibri" charset="0"/>
                        <a:ea typeface="Calibri" charset="0"/>
                        <a:cs typeface="Calibri" charset="0"/>
                      </a:endParaRPr>
                    </a:p>
                  </a:txBody>
                  <a:tcPr marL="91440" marR="91440" marT="45720" marB="45720">
                    <a:lnL w="12700" cap="flat" cmpd="sng" algn="ctr">
                      <a:solidFill>
                        <a:srgbClr val="C8E6C9"/>
                      </a:solidFill>
                      <a:prstDash val="solid"/>
                      <a:round/>
                      <a:headEnd type="none" w="med" len="med"/>
                      <a:tailEnd type="none" w="med" len="med"/>
                    </a:lnL>
                    <a:lnR w="12700" cap="flat" cmpd="sng" algn="ctr">
                      <a:solidFill>
                        <a:srgbClr val="C8E6C9"/>
                      </a:solidFill>
                      <a:prstDash val="solid"/>
                      <a:round/>
                      <a:headEnd type="none" w="med" len="med"/>
                      <a:tailEnd type="none" w="med" len="med"/>
                    </a:lnR>
                    <a:lnT w="12700" cap="flat" cmpd="sng" algn="ctr">
                      <a:solidFill>
                        <a:srgbClr val="C8E6C9"/>
                      </a:solidFill>
                      <a:prstDash val="solid"/>
                      <a:round/>
                      <a:headEnd type="none" w="med" len="med"/>
                      <a:tailEnd type="none" w="med" len="med"/>
                    </a:lnT>
                    <a:lnB w="12700" cap="flat" cmpd="sng" algn="ctr">
                      <a:solidFill>
                        <a:srgbClr val="C8E6C9"/>
                      </a:solidFill>
                      <a:prstDash val="solid"/>
                      <a:round/>
                      <a:headEnd type="none" w="med" len="med"/>
                      <a:tailEnd type="none" w="med" len="med"/>
                    </a:lnB>
                    <a:solidFill>
                      <a:srgbClr val="FFFFFF"/>
                    </a:solidFill>
                  </a:tcPr>
                </a:tc>
              </a:tr>
              <a:tr h="438912">
                <a:tc>
                  <a:txBody>
                    <a:bodyPr/>
                    <a:lstStyle/>
                    <a:p>
                      <a:pPr indent="0" marL="0">
                        <a:buNone/>
                      </a:pPr>
                      <a:r>
                        <a:rPr lang="en-US" sz="1100" dirty="0">
                          <a:solidFill>
                            <a:srgbClr val="0D1F17"/>
                          </a:solidFill>
                          <a:latin typeface="Calibri" pitchFamily="34" charset="0"/>
                          <a:ea typeface="Calibri" pitchFamily="34" charset="-122"/>
                          <a:cs typeface="Calibri" pitchFamily="34" charset="-120"/>
                        </a:rPr>
                        <a:t>Outils de développement</a:t>
                      </a:r>
                      <a:endParaRPr lang="en-US" sz="1100" dirty="0">
                        <a:latin typeface="Calibri" charset="0"/>
                        <a:ea typeface="Calibri" charset="0"/>
                        <a:cs typeface="Calibri" charset="0"/>
                      </a:endParaRPr>
                    </a:p>
                  </a:txBody>
                  <a:tcPr marL="91440" marR="91440" marT="45720" marB="45720">
                    <a:lnL w="12700" cap="flat" cmpd="sng" algn="ctr">
                      <a:solidFill>
                        <a:srgbClr val="C8E6C9"/>
                      </a:solidFill>
                      <a:prstDash val="solid"/>
                      <a:round/>
                      <a:headEnd type="none" w="med" len="med"/>
                      <a:tailEnd type="none" w="med" len="med"/>
                    </a:lnL>
                    <a:lnR w="12700" cap="flat" cmpd="sng" algn="ctr">
                      <a:solidFill>
                        <a:srgbClr val="C8E6C9"/>
                      </a:solidFill>
                      <a:prstDash val="solid"/>
                      <a:round/>
                      <a:headEnd type="none" w="med" len="med"/>
                      <a:tailEnd type="none" w="med" len="med"/>
                    </a:lnR>
                    <a:lnT w="12700" cap="flat" cmpd="sng" algn="ctr">
                      <a:solidFill>
                        <a:srgbClr val="C8E6C9"/>
                      </a:solidFill>
                      <a:prstDash val="solid"/>
                      <a:round/>
                      <a:headEnd type="none" w="med" len="med"/>
                      <a:tailEnd type="none" w="med" len="med"/>
                    </a:lnT>
                    <a:lnB w="12700" cap="flat" cmpd="sng" algn="ctr">
                      <a:solidFill>
                        <a:srgbClr val="C8E6C9"/>
                      </a:solidFill>
                      <a:prstDash val="solid"/>
                      <a:round/>
                      <a:headEnd type="none" w="med" len="med"/>
                      <a:tailEnd type="none" w="med" len="med"/>
                    </a:lnB>
                    <a:solidFill>
                      <a:srgbClr val="FFFFFF"/>
                    </a:solidFill>
                  </a:tcPr>
                </a:tc>
                <a:tc>
                  <a:txBody>
                    <a:bodyPr/>
                    <a:lstStyle/>
                    <a:p>
                      <a:pPr indent="0" marL="0">
                        <a:buNone/>
                      </a:pPr>
                      <a:r>
                        <a:rPr lang="en-US" sz="1100" dirty="0">
                          <a:solidFill>
                            <a:srgbClr val="0D1F17"/>
                          </a:solidFill>
                          <a:latin typeface="Calibri" pitchFamily="34" charset="0"/>
                          <a:ea typeface="Calibri" pitchFamily="34" charset="-122"/>
                          <a:cs typeface="Calibri" pitchFamily="34" charset="-120"/>
                        </a:rPr>
                        <a:t>VS Code, Node.js, Expo CLI — tous open source</a:t>
                      </a:r>
                      <a:endParaRPr lang="en-US" sz="1100" dirty="0">
                        <a:latin typeface="Calibri" charset="0"/>
                        <a:ea typeface="Calibri" charset="0"/>
                        <a:cs typeface="Calibri" charset="0"/>
                      </a:endParaRPr>
                    </a:p>
                  </a:txBody>
                  <a:tcPr marL="91440" marR="91440" marT="45720" marB="45720">
                    <a:lnL w="12700" cap="flat" cmpd="sng" algn="ctr">
                      <a:solidFill>
                        <a:srgbClr val="C8E6C9"/>
                      </a:solidFill>
                      <a:prstDash val="solid"/>
                      <a:round/>
                      <a:headEnd type="none" w="med" len="med"/>
                      <a:tailEnd type="none" w="med" len="med"/>
                    </a:lnL>
                    <a:lnR w="12700" cap="flat" cmpd="sng" algn="ctr">
                      <a:solidFill>
                        <a:srgbClr val="C8E6C9"/>
                      </a:solidFill>
                      <a:prstDash val="solid"/>
                      <a:round/>
                      <a:headEnd type="none" w="med" len="med"/>
                      <a:tailEnd type="none" w="med" len="med"/>
                    </a:lnR>
                    <a:lnT w="12700" cap="flat" cmpd="sng" algn="ctr">
                      <a:solidFill>
                        <a:srgbClr val="C8E6C9"/>
                      </a:solidFill>
                      <a:prstDash val="solid"/>
                      <a:round/>
                      <a:headEnd type="none" w="med" len="med"/>
                      <a:tailEnd type="none" w="med" len="med"/>
                    </a:lnT>
                    <a:lnB w="12700" cap="flat" cmpd="sng" algn="ctr">
                      <a:solidFill>
                        <a:srgbClr val="C8E6C9"/>
                      </a:solidFill>
                      <a:prstDash val="solid"/>
                      <a:round/>
                      <a:headEnd type="none" w="med" len="med"/>
                      <a:tailEnd type="none" w="med" len="med"/>
                    </a:lnB>
                    <a:solidFill>
                      <a:srgbClr val="FFFFFF"/>
                    </a:solidFill>
                  </a:tcPr>
                </a:tc>
                <a:tc>
                  <a:txBody>
                    <a:bodyPr/>
                    <a:lstStyle/>
                    <a:p>
                      <a:pPr indent="0" marL="0">
                        <a:buNone/>
                      </a:pPr>
                      <a:r>
                        <a:rPr lang="en-US" sz="1100" dirty="0">
                          <a:solidFill>
                            <a:srgbClr val="0D1F17"/>
                          </a:solidFill>
                          <a:latin typeface="Calibri" pitchFamily="34" charset="0"/>
                          <a:ea typeface="Calibri" pitchFamily="34" charset="-122"/>
                          <a:cs typeface="Calibri" pitchFamily="34" charset="-120"/>
                        </a:rPr>
                        <a:t>0 FCFA</a:t>
                      </a:r>
                      <a:endParaRPr lang="en-US" sz="1100" dirty="0">
                        <a:latin typeface="Calibri" charset="0"/>
                        <a:ea typeface="Calibri" charset="0"/>
                        <a:cs typeface="Calibri" charset="0"/>
                      </a:endParaRPr>
                    </a:p>
                  </a:txBody>
                  <a:tcPr marL="91440" marR="91440" marT="45720" marB="45720">
                    <a:lnL w="12700" cap="flat" cmpd="sng" algn="ctr">
                      <a:solidFill>
                        <a:srgbClr val="C8E6C9"/>
                      </a:solidFill>
                      <a:prstDash val="solid"/>
                      <a:round/>
                      <a:headEnd type="none" w="med" len="med"/>
                      <a:tailEnd type="none" w="med" len="med"/>
                    </a:lnL>
                    <a:lnR w="12700" cap="flat" cmpd="sng" algn="ctr">
                      <a:solidFill>
                        <a:srgbClr val="C8E6C9"/>
                      </a:solidFill>
                      <a:prstDash val="solid"/>
                      <a:round/>
                      <a:headEnd type="none" w="med" len="med"/>
                      <a:tailEnd type="none" w="med" len="med"/>
                    </a:lnR>
                    <a:lnT w="12700" cap="flat" cmpd="sng" algn="ctr">
                      <a:solidFill>
                        <a:srgbClr val="C8E6C9"/>
                      </a:solidFill>
                      <a:prstDash val="solid"/>
                      <a:round/>
                      <a:headEnd type="none" w="med" len="med"/>
                      <a:tailEnd type="none" w="med" len="med"/>
                    </a:lnT>
                    <a:lnB w="12700" cap="flat" cmpd="sng" algn="ctr">
                      <a:solidFill>
                        <a:srgbClr val="C8E6C9"/>
                      </a:solidFill>
                      <a:prstDash val="solid"/>
                      <a:round/>
                      <a:headEnd type="none" w="med" len="med"/>
                      <a:tailEnd type="none" w="med" len="med"/>
                    </a:lnB>
                    <a:solidFill>
                      <a:srgbClr val="FFFFFF"/>
                    </a:solidFill>
                  </a:tcPr>
                </a:tc>
              </a:tr>
              <a:tr h="438912">
                <a:tc>
                  <a:txBody>
                    <a:bodyPr/>
                    <a:lstStyle/>
                    <a:p>
                      <a:pPr indent="0" marL="0">
                        <a:buNone/>
                      </a:pPr>
                      <a:r>
                        <a:rPr lang="en-US" sz="1100" dirty="0">
                          <a:solidFill>
                            <a:srgbClr val="0D1F17"/>
                          </a:solidFill>
                          <a:latin typeface="Calibri" pitchFamily="34" charset="0"/>
                          <a:ea typeface="Calibri" pitchFamily="34" charset="-122"/>
                          <a:cs typeface="Calibri" pitchFamily="34" charset="-120"/>
                        </a:rPr>
                        <a:t>Tests &amp; Déploiement</a:t>
                      </a:r>
                      <a:endParaRPr lang="en-US" sz="1100" dirty="0">
                        <a:latin typeface="Calibri" charset="0"/>
                        <a:ea typeface="Calibri" charset="0"/>
                        <a:cs typeface="Calibri" charset="0"/>
                      </a:endParaRPr>
                    </a:p>
                  </a:txBody>
                  <a:tcPr marL="91440" marR="91440" marT="45720" marB="45720">
                    <a:lnL w="12700" cap="flat" cmpd="sng" algn="ctr">
                      <a:solidFill>
                        <a:srgbClr val="C8E6C9"/>
                      </a:solidFill>
                      <a:prstDash val="solid"/>
                      <a:round/>
                      <a:headEnd type="none" w="med" len="med"/>
                      <a:tailEnd type="none" w="med" len="med"/>
                    </a:lnL>
                    <a:lnR w="12700" cap="flat" cmpd="sng" algn="ctr">
                      <a:solidFill>
                        <a:srgbClr val="C8E6C9"/>
                      </a:solidFill>
                      <a:prstDash val="solid"/>
                      <a:round/>
                      <a:headEnd type="none" w="med" len="med"/>
                      <a:tailEnd type="none" w="med" len="med"/>
                    </a:lnR>
                    <a:lnT w="12700" cap="flat" cmpd="sng" algn="ctr">
                      <a:solidFill>
                        <a:srgbClr val="C8E6C9"/>
                      </a:solidFill>
                      <a:prstDash val="solid"/>
                      <a:round/>
                      <a:headEnd type="none" w="med" len="med"/>
                      <a:tailEnd type="none" w="med" len="med"/>
                    </a:lnT>
                    <a:lnB w="12700" cap="flat" cmpd="sng" algn="ctr">
                      <a:solidFill>
                        <a:srgbClr val="C8E6C9"/>
                      </a:solidFill>
                      <a:prstDash val="solid"/>
                      <a:round/>
                      <a:headEnd type="none" w="med" len="med"/>
                      <a:tailEnd type="none" w="med" len="med"/>
                    </a:lnB>
                    <a:solidFill>
                      <a:srgbClr val="FFFFFF"/>
                    </a:solidFill>
                  </a:tcPr>
                </a:tc>
                <a:tc>
                  <a:txBody>
                    <a:bodyPr/>
                    <a:lstStyle/>
                    <a:p>
                      <a:pPr indent="0" marL="0">
                        <a:buNone/>
                      </a:pPr>
                      <a:r>
                        <a:rPr lang="en-US" sz="1100" dirty="0">
                          <a:solidFill>
                            <a:srgbClr val="0D1F17"/>
                          </a:solidFill>
                          <a:latin typeface="Calibri" pitchFamily="34" charset="0"/>
                          <a:ea typeface="Calibri" pitchFamily="34" charset="-122"/>
                          <a:cs typeface="Calibri" pitchFamily="34" charset="-120"/>
                        </a:rPr>
                        <a:t>Expo Go pour tests mobiles, Expo EAS pour build</a:t>
                      </a:r>
                      <a:endParaRPr lang="en-US" sz="1100" dirty="0">
                        <a:latin typeface="Calibri" charset="0"/>
                        <a:ea typeface="Calibri" charset="0"/>
                        <a:cs typeface="Calibri" charset="0"/>
                      </a:endParaRPr>
                    </a:p>
                  </a:txBody>
                  <a:tcPr marL="91440" marR="91440" marT="45720" marB="45720">
                    <a:lnL w="12700" cap="flat" cmpd="sng" algn="ctr">
                      <a:solidFill>
                        <a:srgbClr val="C8E6C9"/>
                      </a:solidFill>
                      <a:prstDash val="solid"/>
                      <a:round/>
                      <a:headEnd type="none" w="med" len="med"/>
                      <a:tailEnd type="none" w="med" len="med"/>
                    </a:lnL>
                    <a:lnR w="12700" cap="flat" cmpd="sng" algn="ctr">
                      <a:solidFill>
                        <a:srgbClr val="C8E6C9"/>
                      </a:solidFill>
                      <a:prstDash val="solid"/>
                      <a:round/>
                      <a:headEnd type="none" w="med" len="med"/>
                      <a:tailEnd type="none" w="med" len="med"/>
                    </a:lnR>
                    <a:lnT w="12700" cap="flat" cmpd="sng" algn="ctr">
                      <a:solidFill>
                        <a:srgbClr val="C8E6C9"/>
                      </a:solidFill>
                      <a:prstDash val="solid"/>
                      <a:round/>
                      <a:headEnd type="none" w="med" len="med"/>
                      <a:tailEnd type="none" w="med" len="med"/>
                    </a:lnT>
                    <a:lnB w="12700" cap="flat" cmpd="sng" algn="ctr">
                      <a:solidFill>
                        <a:srgbClr val="C8E6C9"/>
                      </a:solidFill>
                      <a:prstDash val="solid"/>
                      <a:round/>
                      <a:headEnd type="none" w="med" len="med"/>
                      <a:tailEnd type="none" w="med" len="med"/>
                    </a:lnB>
                    <a:solidFill>
                      <a:srgbClr val="FFFFFF"/>
                    </a:solidFill>
                  </a:tcPr>
                </a:tc>
                <a:tc>
                  <a:txBody>
                    <a:bodyPr/>
                    <a:lstStyle/>
                    <a:p>
                      <a:pPr indent="0" marL="0">
                        <a:buNone/>
                      </a:pPr>
                      <a:r>
                        <a:rPr lang="en-US" sz="1100" dirty="0">
                          <a:solidFill>
                            <a:srgbClr val="0D1F17"/>
                          </a:solidFill>
                          <a:latin typeface="Calibri" pitchFamily="34" charset="0"/>
                          <a:ea typeface="Calibri" pitchFamily="34" charset="-122"/>
                          <a:cs typeface="Calibri" pitchFamily="34" charset="-120"/>
                        </a:rPr>
                        <a:t>0 – 25 000 FCFA</a:t>
                      </a:r>
                      <a:endParaRPr lang="en-US" sz="1100" dirty="0">
                        <a:latin typeface="Calibri" charset="0"/>
                        <a:ea typeface="Calibri" charset="0"/>
                        <a:cs typeface="Calibri" charset="0"/>
                      </a:endParaRPr>
                    </a:p>
                  </a:txBody>
                  <a:tcPr marL="91440" marR="91440" marT="45720" marB="45720">
                    <a:lnL w="12700" cap="flat" cmpd="sng" algn="ctr">
                      <a:solidFill>
                        <a:srgbClr val="C8E6C9"/>
                      </a:solidFill>
                      <a:prstDash val="solid"/>
                      <a:round/>
                      <a:headEnd type="none" w="med" len="med"/>
                      <a:tailEnd type="none" w="med" len="med"/>
                    </a:lnL>
                    <a:lnR w="12700" cap="flat" cmpd="sng" algn="ctr">
                      <a:solidFill>
                        <a:srgbClr val="C8E6C9"/>
                      </a:solidFill>
                      <a:prstDash val="solid"/>
                      <a:round/>
                      <a:headEnd type="none" w="med" len="med"/>
                      <a:tailEnd type="none" w="med" len="med"/>
                    </a:lnR>
                    <a:lnT w="12700" cap="flat" cmpd="sng" algn="ctr">
                      <a:solidFill>
                        <a:srgbClr val="C8E6C9"/>
                      </a:solidFill>
                      <a:prstDash val="solid"/>
                      <a:round/>
                      <a:headEnd type="none" w="med" len="med"/>
                      <a:tailEnd type="none" w="med" len="med"/>
                    </a:lnT>
                    <a:lnB w="12700" cap="flat" cmpd="sng" algn="ctr">
                      <a:solidFill>
                        <a:srgbClr val="C8E6C9"/>
                      </a:solidFill>
                      <a:prstDash val="solid"/>
                      <a:round/>
                      <a:headEnd type="none" w="med" len="med"/>
                      <a:tailEnd type="none" w="med" len="med"/>
                    </a:lnB>
                    <a:solidFill>
                      <a:srgbClr val="FFFFFF"/>
                    </a:solidFill>
                  </a:tcPr>
                </a:tc>
              </a:tr>
              <a:tr h="438912">
                <a:tc>
                  <a:txBody>
                    <a:bodyPr/>
                    <a:lstStyle/>
                    <a:p>
                      <a:pPr indent="0" marL="0">
                        <a:buNone/>
                      </a:pPr>
                      <a:r>
                        <a:rPr lang="en-US" sz="1100" dirty="0">
                          <a:solidFill>
                            <a:srgbClr val="0D1F17"/>
                          </a:solidFill>
                          <a:latin typeface="Calibri" pitchFamily="34" charset="0"/>
                          <a:ea typeface="Calibri" pitchFamily="34" charset="-122"/>
                          <a:cs typeface="Calibri" pitchFamily="34" charset="-120"/>
                        </a:rPr>
                        <a:t>Documentation &amp; Rapport</a:t>
                      </a:r>
                      <a:endParaRPr lang="en-US" sz="1100" dirty="0">
                        <a:latin typeface="Calibri" charset="0"/>
                        <a:ea typeface="Calibri" charset="0"/>
                        <a:cs typeface="Calibri" charset="0"/>
                      </a:endParaRPr>
                    </a:p>
                  </a:txBody>
                  <a:tcPr marL="91440" marR="91440" marT="45720" marB="45720">
                    <a:lnL w="12700" cap="flat" cmpd="sng" algn="ctr">
                      <a:solidFill>
                        <a:srgbClr val="C8E6C9"/>
                      </a:solidFill>
                      <a:prstDash val="solid"/>
                      <a:round/>
                      <a:headEnd type="none" w="med" len="med"/>
                      <a:tailEnd type="none" w="med" len="med"/>
                    </a:lnL>
                    <a:lnR w="12700" cap="flat" cmpd="sng" algn="ctr">
                      <a:solidFill>
                        <a:srgbClr val="C8E6C9"/>
                      </a:solidFill>
                      <a:prstDash val="solid"/>
                      <a:round/>
                      <a:headEnd type="none" w="med" len="med"/>
                      <a:tailEnd type="none" w="med" len="med"/>
                    </a:lnR>
                    <a:lnT w="12700" cap="flat" cmpd="sng" algn="ctr">
                      <a:solidFill>
                        <a:srgbClr val="C8E6C9"/>
                      </a:solidFill>
                      <a:prstDash val="solid"/>
                      <a:round/>
                      <a:headEnd type="none" w="med" len="med"/>
                      <a:tailEnd type="none" w="med" len="med"/>
                    </a:lnT>
                    <a:lnB w="12700" cap="flat" cmpd="sng" algn="ctr">
                      <a:solidFill>
                        <a:srgbClr val="C8E6C9"/>
                      </a:solidFill>
                      <a:prstDash val="solid"/>
                      <a:round/>
                      <a:headEnd type="none" w="med" len="med"/>
                      <a:tailEnd type="none" w="med" len="med"/>
                    </a:lnB>
                    <a:solidFill>
                      <a:srgbClr val="FFFFFF"/>
                    </a:solidFill>
                  </a:tcPr>
                </a:tc>
                <a:tc>
                  <a:txBody>
                    <a:bodyPr/>
                    <a:lstStyle/>
                    <a:p>
                      <a:pPr indent="0" marL="0">
                        <a:buNone/>
                      </a:pPr>
                      <a:r>
                        <a:rPr lang="en-US" sz="1100" dirty="0">
                          <a:solidFill>
                            <a:srgbClr val="0D1F17"/>
                          </a:solidFill>
                          <a:latin typeface="Calibri" pitchFamily="34" charset="0"/>
                          <a:ea typeface="Calibri" pitchFamily="34" charset="-122"/>
                          <a:cs typeface="Calibri" pitchFamily="34" charset="-120"/>
                        </a:rPr>
                        <a:t>Rédaction, impression du rapport de stage</a:t>
                      </a:r>
                      <a:endParaRPr lang="en-US" sz="1100" dirty="0">
                        <a:latin typeface="Calibri" charset="0"/>
                        <a:ea typeface="Calibri" charset="0"/>
                        <a:cs typeface="Calibri" charset="0"/>
                      </a:endParaRPr>
                    </a:p>
                  </a:txBody>
                  <a:tcPr marL="91440" marR="91440" marT="45720" marB="45720">
                    <a:lnL w="12700" cap="flat" cmpd="sng" algn="ctr">
                      <a:solidFill>
                        <a:srgbClr val="C8E6C9"/>
                      </a:solidFill>
                      <a:prstDash val="solid"/>
                      <a:round/>
                      <a:headEnd type="none" w="med" len="med"/>
                      <a:tailEnd type="none" w="med" len="med"/>
                    </a:lnL>
                    <a:lnR w="12700" cap="flat" cmpd="sng" algn="ctr">
                      <a:solidFill>
                        <a:srgbClr val="C8E6C9"/>
                      </a:solidFill>
                      <a:prstDash val="solid"/>
                      <a:round/>
                      <a:headEnd type="none" w="med" len="med"/>
                      <a:tailEnd type="none" w="med" len="med"/>
                    </a:lnR>
                    <a:lnT w="12700" cap="flat" cmpd="sng" algn="ctr">
                      <a:solidFill>
                        <a:srgbClr val="C8E6C9"/>
                      </a:solidFill>
                      <a:prstDash val="solid"/>
                      <a:round/>
                      <a:headEnd type="none" w="med" len="med"/>
                      <a:tailEnd type="none" w="med" len="med"/>
                    </a:lnT>
                    <a:lnB w="12700" cap="flat" cmpd="sng" algn="ctr">
                      <a:solidFill>
                        <a:srgbClr val="C8E6C9"/>
                      </a:solidFill>
                      <a:prstDash val="solid"/>
                      <a:round/>
                      <a:headEnd type="none" w="med" len="med"/>
                      <a:tailEnd type="none" w="med" len="med"/>
                    </a:lnB>
                    <a:solidFill>
                      <a:srgbClr val="FFFFFF"/>
                    </a:solidFill>
                  </a:tcPr>
                </a:tc>
                <a:tc>
                  <a:txBody>
                    <a:bodyPr/>
                    <a:lstStyle/>
                    <a:p>
                      <a:pPr indent="0" marL="0">
                        <a:buNone/>
                      </a:pPr>
                      <a:r>
                        <a:rPr lang="en-US" sz="1100" dirty="0">
                          <a:solidFill>
                            <a:srgbClr val="0D1F17"/>
                          </a:solidFill>
                          <a:latin typeface="Calibri" pitchFamily="34" charset="0"/>
                          <a:ea typeface="Calibri" pitchFamily="34" charset="-122"/>
                          <a:cs typeface="Calibri" pitchFamily="34" charset="-120"/>
                        </a:rPr>
                        <a:t>15 000 FCFA</a:t>
                      </a:r>
                      <a:endParaRPr lang="en-US" sz="1100" dirty="0">
                        <a:latin typeface="Calibri" charset="0"/>
                        <a:ea typeface="Calibri" charset="0"/>
                        <a:cs typeface="Calibri" charset="0"/>
                      </a:endParaRPr>
                    </a:p>
                  </a:txBody>
                  <a:tcPr marL="91440" marR="91440" marT="45720" marB="45720">
                    <a:lnL w="12700" cap="flat" cmpd="sng" algn="ctr">
                      <a:solidFill>
                        <a:srgbClr val="C8E6C9"/>
                      </a:solidFill>
                      <a:prstDash val="solid"/>
                      <a:round/>
                      <a:headEnd type="none" w="med" len="med"/>
                      <a:tailEnd type="none" w="med" len="med"/>
                    </a:lnL>
                    <a:lnR w="12700" cap="flat" cmpd="sng" algn="ctr">
                      <a:solidFill>
                        <a:srgbClr val="C8E6C9"/>
                      </a:solidFill>
                      <a:prstDash val="solid"/>
                      <a:round/>
                      <a:headEnd type="none" w="med" len="med"/>
                      <a:tailEnd type="none" w="med" len="med"/>
                    </a:lnR>
                    <a:lnT w="12700" cap="flat" cmpd="sng" algn="ctr">
                      <a:solidFill>
                        <a:srgbClr val="C8E6C9"/>
                      </a:solidFill>
                      <a:prstDash val="solid"/>
                      <a:round/>
                      <a:headEnd type="none" w="med" len="med"/>
                      <a:tailEnd type="none" w="med" len="med"/>
                    </a:lnT>
                    <a:lnB w="12700" cap="flat" cmpd="sng" algn="ctr">
                      <a:solidFill>
                        <a:srgbClr val="C8E6C9"/>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TOTAL ESTIMÉ</a:t>
                      </a:r>
                      <a:endParaRPr lang="en-US" sz="1200" dirty="0">
                        <a:latin typeface="Calibri" charset="0"/>
                        <a:ea typeface="Calibri" charset="0"/>
                        <a:cs typeface="Calibri" charset="0"/>
                      </a:endParaRPr>
                    </a:p>
                  </a:txBody>
                  <a:tcPr marL="91440" marR="91440" marT="45720" marB="45720">
                    <a:lnL w="12700" cap="flat" cmpd="sng" algn="ctr">
                      <a:solidFill>
                        <a:srgbClr val="C8E6C9"/>
                      </a:solidFill>
                      <a:prstDash val="solid"/>
                      <a:round/>
                      <a:headEnd type="none" w="med" len="med"/>
                      <a:tailEnd type="none" w="med" len="med"/>
                    </a:lnL>
                    <a:lnR w="12700" cap="flat" cmpd="sng" algn="ctr">
                      <a:solidFill>
                        <a:srgbClr val="C8E6C9"/>
                      </a:solidFill>
                      <a:prstDash val="solid"/>
                      <a:round/>
                      <a:headEnd type="none" w="med" len="med"/>
                      <a:tailEnd type="none" w="med" len="med"/>
                    </a:lnR>
                    <a:lnT w="12700" cap="flat" cmpd="sng" algn="ctr">
                      <a:solidFill>
                        <a:srgbClr val="C8E6C9"/>
                      </a:solidFill>
                      <a:prstDash val="solid"/>
                      <a:round/>
                      <a:headEnd type="none" w="med" len="med"/>
                      <a:tailEnd type="none" w="med" len="med"/>
                    </a:lnT>
                    <a:lnB w="12700" cap="flat" cmpd="sng" algn="ctr">
                      <a:solidFill>
                        <a:srgbClr val="C8E6C9"/>
                      </a:solidFill>
                      <a:prstDash val="solid"/>
                      <a:round/>
                      <a:headEnd type="none" w="med" len="med"/>
                      <a:tailEnd type="none" w="med" len="med"/>
                    </a:lnB>
                    <a:solidFill>
                      <a:srgbClr val="1A7A4A"/>
                    </a:solidFill>
                  </a:tcPr>
                </a:tc>
                <a:tc>
                  <a:txBody>
                    <a:bodyPr/>
                    <a:lstStyle/>
                    <a:p>
                      <a:pPr indent="0" marL="0">
                        <a:buNone/>
                      </a:pPr>
                      <a:endParaRPr lang="en-US" sz="1100" dirty="0">
                        <a:latin typeface="Calibri" charset="0"/>
                        <a:ea typeface="Calibri" charset="0"/>
                        <a:cs typeface="Calibri" charset="0"/>
                      </a:endParaRPr>
                    </a:p>
                  </a:txBody>
                  <a:tcPr marL="91440" marR="91440" marT="45720" marB="45720">
                    <a:lnL w="12700" cap="flat" cmpd="sng" algn="ctr">
                      <a:solidFill>
                        <a:srgbClr val="C8E6C9"/>
                      </a:solidFill>
                      <a:prstDash val="solid"/>
                      <a:round/>
                      <a:headEnd type="none" w="med" len="med"/>
                      <a:tailEnd type="none" w="med" len="med"/>
                    </a:lnL>
                    <a:lnR w="12700" cap="flat" cmpd="sng" algn="ctr">
                      <a:solidFill>
                        <a:srgbClr val="C8E6C9"/>
                      </a:solidFill>
                      <a:prstDash val="solid"/>
                      <a:round/>
                      <a:headEnd type="none" w="med" len="med"/>
                      <a:tailEnd type="none" w="med" len="med"/>
                    </a:lnR>
                    <a:lnT w="12700" cap="flat" cmpd="sng" algn="ctr">
                      <a:solidFill>
                        <a:srgbClr val="C8E6C9"/>
                      </a:solidFill>
                      <a:prstDash val="solid"/>
                      <a:round/>
                      <a:headEnd type="none" w="med" len="med"/>
                      <a:tailEnd type="none" w="med" len="med"/>
                    </a:lnT>
                    <a:lnB w="12700" cap="flat" cmpd="sng" algn="ctr">
                      <a:solidFill>
                        <a:srgbClr val="C8E6C9"/>
                      </a:solidFill>
                      <a:prstDash val="solid"/>
                      <a:round/>
                      <a:headEnd type="none" w="med" len="med"/>
                      <a:tailEnd type="none" w="med" len="med"/>
                    </a:lnB>
                    <a:solidFill>
                      <a:srgbClr val="1A7A4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 40 000 FCFA</a:t>
                      </a:r>
                      <a:endParaRPr lang="en-US" sz="1200" dirty="0">
                        <a:latin typeface="Calibri" charset="0"/>
                        <a:ea typeface="Calibri" charset="0"/>
                        <a:cs typeface="Calibri" charset="0"/>
                      </a:endParaRPr>
                    </a:p>
                  </a:txBody>
                  <a:tcPr marL="91440" marR="91440" marT="45720" marB="45720">
                    <a:lnL w="12700" cap="flat" cmpd="sng" algn="ctr">
                      <a:solidFill>
                        <a:srgbClr val="C8E6C9"/>
                      </a:solidFill>
                      <a:prstDash val="solid"/>
                      <a:round/>
                      <a:headEnd type="none" w="med" len="med"/>
                      <a:tailEnd type="none" w="med" len="med"/>
                    </a:lnL>
                    <a:lnR w="12700" cap="flat" cmpd="sng" algn="ctr">
                      <a:solidFill>
                        <a:srgbClr val="C8E6C9"/>
                      </a:solidFill>
                      <a:prstDash val="solid"/>
                      <a:round/>
                      <a:headEnd type="none" w="med" len="med"/>
                      <a:tailEnd type="none" w="med" len="med"/>
                    </a:lnR>
                    <a:lnT w="12700" cap="flat" cmpd="sng" algn="ctr">
                      <a:solidFill>
                        <a:srgbClr val="C8E6C9"/>
                      </a:solidFill>
                      <a:prstDash val="solid"/>
                      <a:round/>
                      <a:headEnd type="none" w="med" len="med"/>
                      <a:tailEnd type="none" w="med" len="med"/>
                    </a:lnT>
                    <a:lnB w="12700" cap="flat" cmpd="sng" algn="ctr">
                      <a:solidFill>
                        <a:srgbClr val="C8E6C9"/>
                      </a:solidFill>
                      <a:prstDash val="solid"/>
                      <a:round/>
                      <a:headEnd type="none" w="med" len="med"/>
                      <a:tailEnd type="none" w="med" len="med"/>
                    </a:lnB>
                    <a:solidFill>
                      <a:srgbClr val="1A7A4A"/>
                    </a:solidFill>
                  </a:tcPr>
                </a:tc>
              </a:tr>
            </a:tbl>
          </a:graphicData>
        </a:graphic>
      </p:graphicFrame>
      <p:sp>
        <p:nvSpPr>
          <p:cNvPr id="6" name="Text 2"/>
          <p:cNvSpPr/>
          <p:nvPr/>
        </p:nvSpPr>
        <p:spPr>
          <a:xfrm>
            <a:off x="365760" y="4754880"/>
            <a:ext cx="8229600" cy="274320"/>
          </a:xfrm>
          <a:prstGeom prst="rect">
            <a:avLst/>
          </a:prstGeom>
          <a:noFill/>
          <a:ln/>
        </p:spPr>
        <p:txBody>
          <a:bodyPr wrap="square" rtlCol="0" anchor="ctr"/>
          <a:lstStyle/>
          <a:p>
            <a:pPr indent="0" marL="0">
              <a:buNone/>
            </a:pPr>
            <a:r>
              <a:rPr lang="en-US" sz="1000" i="1" dirty="0">
                <a:solidFill>
                  <a:srgbClr val="7A9A7A"/>
                </a:solidFill>
              </a:rPr>
              <a:t>* Les coûts sont minimisés grâce à l'utilisation d'APIs et outils gratuits (open source).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2A1E"/>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015"/>
          </a:solidFill>
          <a:ln w="12700">
            <a:solidFill>
              <a:srgbClr val="F4A015"/>
            </a:solidFill>
            <a:prstDash val="solid"/>
          </a:ln>
        </p:spPr>
      </p:sp>
      <p:sp>
        <p:nvSpPr>
          <p:cNvPr id="3" name="Text 1"/>
          <p:cNvSpPr/>
          <p:nvPr/>
        </p:nvSpPr>
        <p:spPr>
          <a:xfrm>
            <a:off x="320040" y="137160"/>
            <a:ext cx="8229600" cy="685800"/>
          </a:xfrm>
          <a:prstGeom prst="rect">
            <a:avLst/>
          </a:prstGeom>
          <a:noFill/>
          <a:ln/>
        </p:spPr>
        <p:txBody>
          <a:bodyPr wrap="square" rtlCol="0" anchor="ctr"/>
          <a:lstStyle/>
          <a:p>
            <a:pPr indent="0" marL="0">
              <a:buNone/>
            </a:pPr>
            <a:r>
              <a:rPr lang="en-US" sz="3000" b="1" dirty="0">
                <a:solidFill>
                  <a:srgbClr val="FFFFFF"/>
                </a:solidFill>
              </a:rPr>
              <a:t>Contraintes du Projet</a:t>
            </a:r>
            <a:endParaRPr lang="en-US" sz="3000" dirty="0"/>
          </a:p>
        </p:txBody>
      </p:sp>
      <p:sp>
        <p:nvSpPr>
          <p:cNvPr id="4" name="Shape 2"/>
          <p:cNvSpPr/>
          <p:nvPr/>
        </p:nvSpPr>
        <p:spPr>
          <a:xfrm>
            <a:off x="320040" y="804672"/>
            <a:ext cx="3200400" cy="36576"/>
          </a:xfrm>
          <a:prstGeom prst="rect">
            <a:avLst/>
          </a:prstGeom>
          <a:solidFill>
            <a:srgbClr val="F4A015"/>
          </a:solidFill>
          <a:ln w="12700">
            <a:solidFill>
              <a:srgbClr val="F4A015"/>
            </a:solidFill>
            <a:prstDash val="solid"/>
          </a:ln>
        </p:spPr>
      </p:sp>
      <p:sp>
        <p:nvSpPr>
          <p:cNvPr id="5" name="Shape 3"/>
          <p:cNvSpPr/>
          <p:nvPr/>
        </p:nvSpPr>
        <p:spPr>
          <a:xfrm>
            <a:off x="320040" y="1005840"/>
            <a:ext cx="2788920" cy="3794760"/>
          </a:xfrm>
          <a:prstGeom prst="rect">
            <a:avLst/>
          </a:prstGeom>
          <a:solidFill>
            <a:srgbClr val="0D2218"/>
          </a:solidFill>
          <a:ln w="12700">
            <a:solidFill>
              <a:srgbClr val="C0392B"/>
            </a:solidFill>
            <a:prstDash val="solid"/>
          </a:ln>
        </p:spPr>
      </p:sp>
      <p:sp>
        <p:nvSpPr>
          <p:cNvPr id="6" name="Shape 4"/>
          <p:cNvSpPr/>
          <p:nvPr/>
        </p:nvSpPr>
        <p:spPr>
          <a:xfrm>
            <a:off x="320040" y="1005840"/>
            <a:ext cx="2788920" cy="548640"/>
          </a:xfrm>
          <a:prstGeom prst="rect">
            <a:avLst/>
          </a:prstGeom>
          <a:solidFill>
            <a:srgbClr val="C0392B"/>
          </a:solidFill>
          <a:ln w="12700">
            <a:solidFill>
              <a:srgbClr val="C0392B"/>
            </a:solidFill>
            <a:prstDash val="solid"/>
          </a:ln>
        </p:spPr>
      </p:sp>
      <p:pic>
        <p:nvPicPr>
          <p:cNvPr id="7" name="Image 0" descr="preencoded.png">    </p:cNvPr>
          <p:cNvPicPr>
            <a:picLocks noChangeAspect="1"/>
          </p:cNvPicPr>
          <p:nvPr/>
        </p:nvPicPr>
        <p:blipFill>
          <a:blip r:embed="rId1"/>
          <a:stretch>
            <a:fillRect/>
          </a:stretch>
        </p:blipFill>
        <p:spPr>
          <a:xfrm>
            <a:off x="411480" y="1078992"/>
            <a:ext cx="384048" cy="384048"/>
          </a:xfrm>
          <a:prstGeom prst="rect">
            <a:avLst/>
          </a:prstGeom>
        </p:spPr>
      </p:pic>
      <p:sp>
        <p:nvSpPr>
          <p:cNvPr id="8" name="Text 5"/>
          <p:cNvSpPr/>
          <p:nvPr/>
        </p:nvSpPr>
        <p:spPr>
          <a:xfrm>
            <a:off x="868680" y="1005840"/>
            <a:ext cx="2148840" cy="548640"/>
          </a:xfrm>
          <a:prstGeom prst="rect">
            <a:avLst/>
          </a:prstGeom>
          <a:noFill/>
          <a:ln/>
        </p:spPr>
        <p:txBody>
          <a:bodyPr wrap="square" rtlCol="0" anchor="ctr"/>
          <a:lstStyle/>
          <a:p>
            <a:pPr indent="0" marL="0">
              <a:buNone/>
            </a:pPr>
            <a:r>
              <a:rPr lang="en-US" sz="1400" b="1" dirty="0">
                <a:solidFill>
                  <a:srgbClr val="FFFFFF"/>
                </a:solidFill>
              </a:rPr>
              <a:t>Contrainte de Coût</a:t>
            </a:r>
            <a:endParaRPr lang="en-US" sz="1400" dirty="0"/>
          </a:p>
        </p:txBody>
      </p:sp>
      <p:pic>
        <p:nvPicPr>
          <p:cNvPr id="9" name="Image 1" descr="preencoded.png">    </p:cNvPr>
          <p:cNvPicPr>
            <a:picLocks noChangeAspect="1"/>
          </p:cNvPicPr>
          <p:nvPr/>
        </p:nvPicPr>
        <p:blipFill>
          <a:blip r:embed="rId2"/>
          <a:stretch>
            <a:fillRect/>
          </a:stretch>
        </p:blipFill>
        <p:spPr>
          <a:xfrm>
            <a:off x="457200" y="1737360"/>
            <a:ext cx="256032" cy="256032"/>
          </a:xfrm>
          <a:prstGeom prst="rect">
            <a:avLst/>
          </a:prstGeom>
        </p:spPr>
      </p:pic>
      <p:sp>
        <p:nvSpPr>
          <p:cNvPr id="10" name="Text 6"/>
          <p:cNvSpPr/>
          <p:nvPr/>
        </p:nvSpPr>
        <p:spPr>
          <a:xfrm>
            <a:off x="795528" y="1691640"/>
            <a:ext cx="2194560" cy="731520"/>
          </a:xfrm>
          <a:prstGeom prst="rect">
            <a:avLst/>
          </a:prstGeom>
          <a:noFill/>
          <a:ln/>
        </p:spPr>
        <p:txBody>
          <a:bodyPr wrap="square" rtlCol="0" anchor="ctr"/>
          <a:lstStyle/>
          <a:p>
            <a:pPr indent="0" marL="0">
              <a:buNone/>
            </a:pPr>
            <a:r>
              <a:rPr lang="en-US" sz="1100" dirty="0">
                <a:solidFill>
                  <a:srgbClr val="9ABBA5"/>
                </a:solidFill>
              </a:rPr>
              <a:t>Budget très limité → utilisation exclusive d'outils gratuits</a:t>
            </a:r>
            <a:endParaRPr lang="en-US" sz="1100" dirty="0"/>
          </a:p>
        </p:txBody>
      </p:sp>
      <p:pic>
        <p:nvPicPr>
          <p:cNvPr id="11" name="Image 2" descr="preencoded.png">    </p:cNvPr>
          <p:cNvPicPr>
            <a:picLocks noChangeAspect="1"/>
          </p:cNvPicPr>
          <p:nvPr/>
        </p:nvPicPr>
        <p:blipFill>
          <a:blip r:embed="rId3"/>
          <a:stretch>
            <a:fillRect/>
          </a:stretch>
        </p:blipFill>
        <p:spPr>
          <a:xfrm>
            <a:off x="457200" y="2606040"/>
            <a:ext cx="256032" cy="256032"/>
          </a:xfrm>
          <a:prstGeom prst="rect">
            <a:avLst/>
          </a:prstGeom>
        </p:spPr>
      </p:pic>
      <p:sp>
        <p:nvSpPr>
          <p:cNvPr id="12" name="Text 7"/>
          <p:cNvSpPr/>
          <p:nvPr/>
        </p:nvSpPr>
        <p:spPr>
          <a:xfrm>
            <a:off x="795528" y="2560320"/>
            <a:ext cx="2194560" cy="731520"/>
          </a:xfrm>
          <a:prstGeom prst="rect">
            <a:avLst/>
          </a:prstGeom>
          <a:noFill/>
          <a:ln/>
        </p:spPr>
        <p:txBody>
          <a:bodyPr wrap="square" rtlCol="0" anchor="ctr"/>
          <a:lstStyle/>
          <a:p>
            <a:pPr indent="0" marL="0">
              <a:buNone/>
            </a:pPr>
            <a:r>
              <a:rPr lang="en-US" sz="1100" dirty="0">
                <a:solidFill>
                  <a:srgbClr val="9ABBA5"/>
                </a:solidFill>
              </a:rPr>
              <a:t>APIs gratuites (Open-Meteo, Firebase Spark)</a:t>
            </a:r>
            <a:endParaRPr lang="en-US" sz="1100" dirty="0"/>
          </a:p>
        </p:txBody>
      </p:sp>
      <p:pic>
        <p:nvPicPr>
          <p:cNvPr id="13" name="Image 3" descr="preencoded.png">    </p:cNvPr>
          <p:cNvPicPr>
            <a:picLocks noChangeAspect="1"/>
          </p:cNvPicPr>
          <p:nvPr/>
        </p:nvPicPr>
        <p:blipFill>
          <a:blip r:embed="rId4"/>
          <a:stretch>
            <a:fillRect/>
          </a:stretch>
        </p:blipFill>
        <p:spPr>
          <a:xfrm>
            <a:off x="457200" y="3474720"/>
            <a:ext cx="256032" cy="256032"/>
          </a:xfrm>
          <a:prstGeom prst="rect">
            <a:avLst/>
          </a:prstGeom>
        </p:spPr>
      </p:pic>
      <p:sp>
        <p:nvSpPr>
          <p:cNvPr id="14" name="Text 8"/>
          <p:cNvSpPr/>
          <p:nvPr/>
        </p:nvSpPr>
        <p:spPr>
          <a:xfrm>
            <a:off x="795528" y="3429000"/>
            <a:ext cx="2194560" cy="731520"/>
          </a:xfrm>
          <a:prstGeom prst="rect">
            <a:avLst/>
          </a:prstGeom>
          <a:noFill/>
          <a:ln/>
        </p:spPr>
        <p:txBody>
          <a:bodyPr wrap="square" rtlCol="0" anchor="ctr"/>
          <a:lstStyle/>
          <a:p>
            <a:pPr indent="0" marL="0">
              <a:buNone/>
            </a:pPr>
            <a:r>
              <a:rPr lang="en-US" sz="1100" dirty="0">
                <a:solidFill>
                  <a:srgbClr val="9ABBA5"/>
                </a:solidFill>
              </a:rPr>
              <a:t>Pas de serveur dédié → données embarquées localement</a:t>
            </a:r>
            <a:endParaRPr lang="en-US" sz="1100" dirty="0"/>
          </a:p>
        </p:txBody>
      </p:sp>
      <p:sp>
        <p:nvSpPr>
          <p:cNvPr id="15" name="Shape 9"/>
          <p:cNvSpPr/>
          <p:nvPr/>
        </p:nvSpPr>
        <p:spPr>
          <a:xfrm>
            <a:off x="3246120" y="1005840"/>
            <a:ext cx="2788920" cy="3794760"/>
          </a:xfrm>
          <a:prstGeom prst="rect">
            <a:avLst/>
          </a:prstGeom>
          <a:solidFill>
            <a:srgbClr val="0D2218"/>
          </a:solidFill>
          <a:ln w="12700">
            <a:solidFill>
              <a:srgbClr val="1A7A4A"/>
            </a:solidFill>
            <a:prstDash val="solid"/>
          </a:ln>
        </p:spPr>
      </p:sp>
      <p:sp>
        <p:nvSpPr>
          <p:cNvPr id="16" name="Shape 10"/>
          <p:cNvSpPr/>
          <p:nvPr/>
        </p:nvSpPr>
        <p:spPr>
          <a:xfrm>
            <a:off x="3246120" y="1005840"/>
            <a:ext cx="2788920" cy="548640"/>
          </a:xfrm>
          <a:prstGeom prst="rect">
            <a:avLst/>
          </a:prstGeom>
          <a:solidFill>
            <a:srgbClr val="1A7A4A"/>
          </a:solidFill>
          <a:ln w="12700">
            <a:solidFill>
              <a:srgbClr val="1A7A4A"/>
            </a:solidFill>
            <a:prstDash val="solid"/>
          </a:ln>
        </p:spPr>
      </p:sp>
      <p:pic>
        <p:nvPicPr>
          <p:cNvPr id="17" name="Image 4" descr="preencoded.png">    </p:cNvPr>
          <p:cNvPicPr>
            <a:picLocks noChangeAspect="1"/>
          </p:cNvPicPr>
          <p:nvPr/>
        </p:nvPicPr>
        <p:blipFill>
          <a:blip r:embed="rId5"/>
          <a:stretch>
            <a:fillRect/>
          </a:stretch>
        </p:blipFill>
        <p:spPr>
          <a:xfrm>
            <a:off x="3337560" y="1078992"/>
            <a:ext cx="384048" cy="384048"/>
          </a:xfrm>
          <a:prstGeom prst="rect">
            <a:avLst/>
          </a:prstGeom>
        </p:spPr>
      </p:pic>
      <p:sp>
        <p:nvSpPr>
          <p:cNvPr id="18" name="Text 11"/>
          <p:cNvSpPr/>
          <p:nvPr/>
        </p:nvSpPr>
        <p:spPr>
          <a:xfrm>
            <a:off x="3794760" y="1005840"/>
            <a:ext cx="2148840" cy="548640"/>
          </a:xfrm>
          <a:prstGeom prst="rect">
            <a:avLst/>
          </a:prstGeom>
          <a:noFill/>
          <a:ln/>
        </p:spPr>
        <p:txBody>
          <a:bodyPr wrap="square" rtlCol="0" anchor="ctr"/>
          <a:lstStyle/>
          <a:p>
            <a:pPr indent="0" marL="0">
              <a:buNone/>
            </a:pPr>
            <a:r>
              <a:rPr lang="en-US" sz="1400" b="1" dirty="0">
                <a:solidFill>
                  <a:srgbClr val="FFFFFF"/>
                </a:solidFill>
              </a:rPr>
              <a:t>Contrainte de Qualité</a:t>
            </a:r>
            <a:endParaRPr lang="en-US" sz="1400" dirty="0"/>
          </a:p>
        </p:txBody>
      </p:sp>
      <p:pic>
        <p:nvPicPr>
          <p:cNvPr id="19" name="Image 5" descr="preencoded.png">    </p:cNvPr>
          <p:cNvPicPr>
            <a:picLocks noChangeAspect="1"/>
          </p:cNvPicPr>
          <p:nvPr/>
        </p:nvPicPr>
        <p:blipFill>
          <a:blip r:embed="rId6"/>
          <a:stretch>
            <a:fillRect/>
          </a:stretch>
        </p:blipFill>
        <p:spPr>
          <a:xfrm>
            <a:off x="3383280" y="1737360"/>
            <a:ext cx="256032" cy="256032"/>
          </a:xfrm>
          <a:prstGeom prst="rect">
            <a:avLst/>
          </a:prstGeom>
        </p:spPr>
      </p:pic>
      <p:sp>
        <p:nvSpPr>
          <p:cNvPr id="20" name="Text 12"/>
          <p:cNvSpPr/>
          <p:nvPr/>
        </p:nvSpPr>
        <p:spPr>
          <a:xfrm>
            <a:off x="3721608" y="1691640"/>
            <a:ext cx="2194560" cy="731520"/>
          </a:xfrm>
          <a:prstGeom prst="rect">
            <a:avLst/>
          </a:prstGeom>
          <a:noFill/>
          <a:ln/>
        </p:spPr>
        <p:txBody>
          <a:bodyPr wrap="square" rtlCol="0" anchor="ctr"/>
          <a:lstStyle/>
          <a:p>
            <a:pPr indent="0" marL="0">
              <a:buNone/>
            </a:pPr>
            <a:r>
              <a:rPr lang="en-US" sz="1100" dirty="0">
                <a:solidFill>
                  <a:srgbClr val="9ABBA5"/>
                </a:solidFill>
              </a:rPr>
              <a:t>Fiabilité du diagnostic même en mode simulé</a:t>
            </a:r>
            <a:endParaRPr lang="en-US" sz="1100" dirty="0"/>
          </a:p>
        </p:txBody>
      </p:sp>
      <p:pic>
        <p:nvPicPr>
          <p:cNvPr id="21" name="Image 6" descr="preencoded.png">    </p:cNvPr>
          <p:cNvPicPr>
            <a:picLocks noChangeAspect="1"/>
          </p:cNvPicPr>
          <p:nvPr/>
        </p:nvPicPr>
        <p:blipFill>
          <a:blip r:embed="rId7"/>
          <a:stretch>
            <a:fillRect/>
          </a:stretch>
        </p:blipFill>
        <p:spPr>
          <a:xfrm>
            <a:off x="3383280" y="2606040"/>
            <a:ext cx="256032" cy="256032"/>
          </a:xfrm>
          <a:prstGeom prst="rect">
            <a:avLst/>
          </a:prstGeom>
        </p:spPr>
      </p:pic>
      <p:sp>
        <p:nvSpPr>
          <p:cNvPr id="22" name="Text 13"/>
          <p:cNvSpPr/>
          <p:nvPr/>
        </p:nvSpPr>
        <p:spPr>
          <a:xfrm>
            <a:off x="3721608" y="2560320"/>
            <a:ext cx="2194560" cy="731520"/>
          </a:xfrm>
          <a:prstGeom prst="rect">
            <a:avLst/>
          </a:prstGeom>
          <a:noFill/>
          <a:ln/>
        </p:spPr>
        <p:txBody>
          <a:bodyPr wrap="square" rtlCol="0" anchor="ctr"/>
          <a:lstStyle/>
          <a:p>
            <a:pPr indent="0" marL="0">
              <a:buNone/>
            </a:pPr>
            <a:r>
              <a:rPr lang="en-US" sz="1100" dirty="0">
                <a:solidFill>
                  <a:srgbClr val="9ABBA5"/>
                </a:solidFill>
              </a:rPr>
              <a:t>Interface adaptée à des utilisateurs non-techniciens</a:t>
            </a:r>
            <a:endParaRPr lang="en-US" sz="1100" dirty="0"/>
          </a:p>
        </p:txBody>
      </p:sp>
      <p:pic>
        <p:nvPicPr>
          <p:cNvPr id="23" name="Image 7" descr="preencoded.png">    </p:cNvPr>
          <p:cNvPicPr>
            <a:picLocks noChangeAspect="1"/>
          </p:cNvPicPr>
          <p:nvPr/>
        </p:nvPicPr>
        <p:blipFill>
          <a:blip r:embed="rId8"/>
          <a:stretch>
            <a:fillRect/>
          </a:stretch>
        </p:blipFill>
        <p:spPr>
          <a:xfrm>
            <a:off x="3383280" y="3474720"/>
            <a:ext cx="256032" cy="256032"/>
          </a:xfrm>
          <a:prstGeom prst="rect">
            <a:avLst/>
          </a:prstGeom>
        </p:spPr>
      </p:pic>
      <p:sp>
        <p:nvSpPr>
          <p:cNvPr id="24" name="Text 14"/>
          <p:cNvSpPr/>
          <p:nvPr/>
        </p:nvSpPr>
        <p:spPr>
          <a:xfrm>
            <a:off x="3721608" y="3429000"/>
            <a:ext cx="2194560" cy="731520"/>
          </a:xfrm>
          <a:prstGeom prst="rect">
            <a:avLst/>
          </a:prstGeom>
          <a:noFill/>
          <a:ln/>
        </p:spPr>
        <p:txBody>
          <a:bodyPr wrap="square" rtlCol="0" anchor="ctr"/>
          <a:lstStyle/>
          <a:p>
            <a:pPr indent="0" marL="0">
              <a:buNone/>
            </a:pPr>
            <a:r>
              <a:rPr lang="en-US" sz="1100" dirty="0">
                <a:solidFill>
                  <a:srgbClr val="9ABBA5"/>
                </a:solidFill>
              </a:rPr>
              <a:t>Tests sur plusieurs appareils Android/iOS via Expo Go</a:t>
            </a:r>
            <a:endParaRPr lang="en-US" sz="1100" dirty="0"/>
          </a:p>
        </p:txBody>
      </p:sp>
      <p:sp>
        <p:nvSpPr>
          <p:cNvPr id="25" name="Shape 15"/>
          <p:cNvSpPr/>
          <p:nvPr/>
        </p:nvSpPr>
        <p:spPr>
          <a:xfrm>
            <a:off x="6172200" y="1005840"/>
            <a:ext cx="2788920" cy="3794760"/>
          </a:xfrm>
          <a:prstGeom prst="rect">
            <a:avLst/>
          </a:prstGeom>
          <a:solidFill>
            <a:srgbClr val="0D2218"/>
          </a:solidFill>
          <a:ln w="12700">
            <a:solidFill>
              <a:srgbClr val="1E8BCA"/>
            </a:solidFill>
            <a:prstDash val="solid"/>
          </a:ln>
        </p:spPr>
      </p:sp>
      <p:sp>
        <p:nvSpPr>
          <p:cNvPr id="26" name="Shape 16"/>
          <p:cNvSpPr/>
          <p:nvPr/>
        </p:nvSpPr>
        <p:spPr>
          <a:xfrm>
            <a:off x="6172200" y="1005840"/>
            <a:ext cx="2788920" cy="548640"/>
          </a:xfrm>
          <a:prstGeom prst="rect">
            <a:avLst/>
          </a:prstGeom>
          <a:solidFill>
            <a:srgbClr val="1E8BCA"/>
          </a:solidFill>
          <a:ln w="12700">
            <a:solidFill>
              <a:srgbClr val="1E8BCA"/>
            </a:solidFill>
            <a:prstDash val="solid"/>
          </a:ln>
        </p:spPr>
      </p:sp>
      <p:pic>
        <p:nvPicPr>
          <p:cNvPr id="27" name="Image 8" descr="preencoded.png">    </p:cNvPr>
          <p:cNvPicPr>
            <a:picLocks noChangeAspect="1"/>
          </p:cNvPicPr>
          <p:nvPr/>
        </p:nvPicPr>
        <p:blipFill>
          <a:blip r:embed="rId9"/>
          <a:stretch>
            <a:fillRect/>
          </a:stretch>
        </p:blipFill>
        <p:spPr>
          <a:xfrm>
            <a:off x="6263640" y="1078992"/>
            <a:ext cx="384048" cy="384048"/>
          </a:xfrm>
          <a:prstGeom prst="rect">
            <a:avLst/>
          </a:prstGeom>
        </p:spPr>
      </p:pic>
      <p:sp>
        <p:nvSpPr>
          <p:cNvPr id="28" name="Text 17"/>
          <p:cNvSpPr/>
          <p:nvPr/>
        </p:nvSpPr>
        <p:spPr>
          <a:xfrm>
            <a:off x="6720840" y="1005840"/>
            <a:ext cx="2148840" cy="548640"/>
          </a:xfrm>
          <a:prstGeom prst="rect">
            <a:avLst/>
          </a:prstGeom>
          <a:noFill/>
          <a:ln/>
        </p:spPr>
        <p:txBody>
          <a:bodyPr wrap="square" rtlCol="0" anchor="ctr"/>
          <a:lstStyle/>
          <a:p>
            <a:pPr indent="0" marL="0">
              <a:buNone/>
            </a:pPr>
            <a:r>
              <a:rPr lang="en-US" sz="1400" b="1" dirty="0">
                <a:solidFill>
                  <a:srgbClr val="FFFFFF"/>
                </a:solidFill>
              </a:rPr>
              <a:t>Contrainte de Délai</a:t>
            </a:r>
            <a:endParaRPr lang="en-US" sz="1400" dirty="0"/>
          </a:p>
        </p:txBody>
      </p:sp>
      <p:pic>
        <p:nvPicPr>
          <p:cNvPr id="29" name="Image 9" descr="preencoded.png">    </p:cNvPr>
          <p:cNvPicPr>
            <a:picLocks noChangeAspect="1"/>
          </p:cNvPicPr>
          <p:nvPr/>
        </p:nvPicPr>
        <p:blipFill>
          <a:blip r:embed="rId10"/>
          <a:stretch>
            <a:fillRect/>
          </a:stretch>
        </p:blipFill>
        <p:spPr>
          <a:xfrm>
            <a:off x="6309360" y="1737360"/>
            <a:ext cx="256032" cy="256032"/>
          </a:xfrm>
          <a:prstGeom prst="rect">
            <a:avLst/>
          </a:prstGeom>
        </p:spPr>
      </p:pic>
      <p:sp>
        <p:nvSpPr>
          <p:cNvPr id="30" name="Text 18"/>
          <p:cNvSpPr/>
          <p:nvPr/>
        </p:nvSpPr>
        <p:spPr>
          <a:xfrm>
            <a:off x="6647688" y="1691640"/>
            <a:ext cx="2194560" cy="731520"/>
          </a:xfrm>
          <a:prstGeom prst="rect">
            <a:avLst/>
          </a:prstGeom>
          <a:noFill/>
          <a:ln/>
        </p:spPr>
        <p:txBody>
          <a:bodyPr wrap="square" rtlCol="0" anchor="ctr"/>
          <a:lstStyle/>
          <a:p>
            <a:pPr indent="0" marL="0">
              <a:buNone/>
            </a:pPr>
            <a:r>
              <a:rPr lang="en-US" sz="1100" dirty="0">
                <a:solidFill>
                  <a:srgbClr val="9ABBA5"/>
                </a:solidFill>
              </a:rPr>
              <a:t>Développement réalisé dans le cadre d'un stage académique</a:t>
            </a:r>
            <a:endParaRPr lang="en-US" sz="1100" dirty="0"/>
          </a:p>
        </p:txBody>
      </p:sp>
      <p:pic>
        <p:nvPicPr>
          <p:cNvPr id="31" name="Image 10" descr="preencoded.png">    </p:cNvPr>
          <p:cNvPicPr>
            <a:picLocks noChangeAspect="1"/>
          </p:cNvPicPr>
          <p:nvPr/>
        </p:nvPicPr>
        <p:blipFill>
          <a:blip r:embed="rId11"/>
          <a:stretch>
            <a:fillRect/>
          </a:stretch>
        </p:blipFill>
        <p:spPr>
          <a:xfrm>
            <a:off x="6309360" y="2606040"/>
            <a:ext cx="256032" cy="256032"/>
          </a:xfrm>
          <a:prstGeom prst="rect">
            <a:avLst/>
          </a:prstGeom>
        </p:spPr>
      </p:pic>
      <p:sp>
        <p:nvSpPr>
          <p:cNvPr id="32" name="Text 19"/>
          <p:cNvSpPr/>
          <p:nvPr/>
        </p:nvSpPr>
        <p:spPr>
          <a:xfrm>
            <a:off x="6647688" y="2560320"/>
            <a:ext cx="2194560" cy="731520"/>
          </a:xfrm>
          <a:prstGeom prst="rect">
            <a:avLst/>
          </a:prstGeom>
          <a:noFill/>
          <a:ln/>
        </p:spPr>
        <p:txBody>
          <a:bodyPr wrap="square" rtlCol="0" anchor="ctr"/>
          <a:lstStyle/>
          <a:p>
            <a:pPr indent="0" marL="0">
              <a:buNone/>
            </a:pPr>
            <a:r>
              <a:rPr lang="en-US" sz="1100" dirty="0">
                <a:solidFill>
                  <a:srgbClr val="9ABBA5"/>
                </a:solidFill>
              </a:rPr>
              <a:t>Délai contraint par la date de soutenance 2025/2026</a:t>
            </a:r>
            <a:endParaRPr lang="en-US" sz="1100" dirty="0"/>
          </a:p>
        </p:txBody>
      </p:sp>
      <p:pic>
        <p:nvPicPr>
          <p:cNvPr id="33" name="Image 11" descr="preencoded.png">    </p:cNvPr>
          <p:cNvPicPr>
            <a:picLocks noChangeAspect="1"/>
          </p:cNvPicPr>
          <p:nvPr/>
        </p:nvPicPr>
        <p:blipFill>
          <a:blip r:embed="rId12"/>
          <a:stretch>
            <a:fillRect/>
          </a:stretch>
        </p:blipFill>
        <p:spPr>
          <a:xfrm>
            <a:off x="6309360" y="3474720"/>
            <a:ext cx="256032" cy="256032"/>
          </a:xfrm>
          <a:prstGeom prst="rect">
            <a:avLst/>
          </a:prstGeom>
        </p:spPr>
      </p:pic>
      <p:sp>
        <p:nvSpPr>
          <p:cNvPr id="34" name="Text 20"/>
          <p:cNvSpPr/>
          <p:nvPr/>
        </p:nvSpPr>
        <p:spPr>
          <a:xfrm>
            <a:off x="6647688" y="3429000"/>
            <a:ext cx="2194560" cy="731520"/>
          </a:xfrm>
          <a:prstGeom prst="rect">
            <a:avLst/>
          </a:prstGeom>
          <a:noFill/>
          <a:ln/>
        </p:spPr>
        <p:txBody>
          <a:bodyPr wrap="square" rtlCol="0" anchor="ctr"/>
          <a:lstStyle/>
          <a:p>
            <a:pPr indent="0" marL="0">
              <a:buNone/>
            </a:pPr>
            <a:r>
              <a:rPr lang="en-US" sz="1100" dirty="0">
                <a:solidFill>
                  <a:srgbClr val="9ABBA5"/>
                </a:solidFill>
              </a:rPr>
              <a:t>Priorisation des fonctionnalités clés (MVP)</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AF4"/>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F2A1E"/>
          </a:solidFill>
          <a:ln w="12700">
            <a:solidFill>
              <a:srgbClr val="0F2A1E"/>
            </a:solidFill>
            <a:prstDash val="solid"/>
          </a:ln>
        </p:spPr>
      </p:sp>
      <p:sp>
        <p:nvSpPr>
          <p:cNvPr id="3" name="Text 1"/>
          <p:cNvSpPr/>
          <p:nvPr/>
        </p:nvSpPr>
        <p:spPr>
          <a:xfrm>
            <a:off x="457200" y="0"/>
            <a:ext cx="8229600" cy="960120"/>
          </a:xfrm>
          <a:prstGeom prst="rect">
            <a:avLst/>
          </a:prstGeom>
          <a:noFill/>
          <a:ln/>
        </p:spPr>
        <p:txBody>
          <a:bodyPr wrap="square" rtlCol="0" anchor="ctr"/>
          <a:lstStyle/>
          <a:p>
            <a:pPr indent="0" marL="0">
              <a:buNone/>
            </a:pPr>
            <a:r>
              <a:rPr lang="en-US" sz="2800" b="1" dirty="0">
                <a:solidFill>
                  <a:srgbClr val="FFFFFF"/>
                </a:solidFill>
              </a:rPr>
              <a:t>Résultats &amp; Discussion</a:t>
            </a:r>
            <a:endParaRPr lang="en-US" sz="2800" dirty="0"/>
          </a:p>
        </p:txBody>
      </p:sp>
      <p:pic>
        <p:nvPicPr>
          <p:cNvPr id="4" name="Image 0" descr="preencoded.png">    </p:cNvPr>
          <p:cNvPicPr>
            <a:picLocks noChangeAspect="1"/>
          </p:cNvPicPr>
          <p:nvPr/>
        </p:nvPicPr>
        <p:blipFill>
          <a:blip r:embed="rId1"/>
          <a:stretch>
            <a:fillRect/>
          </a:stretch>
        </p:blipFill>
        <p:spPr>
          <a:xfrm>
            <a:off x="8321040" y="201168"/>
            <a:ext cx="548640" cy="548640"/>
          </a:xfrm>
          <a:prstGeom prst="rect">
            <a:avLst/>
          </a:prstGeom>
        </p:spPr>
      </p:pic>
      <p:sp>
        <p:nvSpPr>
          <p:cNvPr id="5" name="Shape 2"/>
          <p:cNvSpPr/>
          <p:nvPr/>
        </p:nvSpPr>
        <p:spPr>
          <a:xfrm>
            <a:off x="228600" y="1097280"/>
            <a:ext cx="2057400" cy="1463040"/>
          </a:xfrm>
          <a:prstGeom prst="rect">
            <a:avLst/>
          </a:prstGeom>
          <a:solidFill>
            <a:srgbClr val="0F2A1E"/>
          </a:solidFill>
          <a:ln w="12700">
            <a:solidFill>
              <a:srgbClr val="27AE60"/>
            </a:solidFill>
            <a:prstDash val="solid"/>
          </a:ln>
        </p:spPr>
      </p:sp>
      <p:sp>
        <p:nvSpPr>
          <p:cNvPr id="6" name="Text 3"/>
          <p:cNvSpPr/>
          <p:nvPr/>
        </p:nvSpPr>
        <p:spPr>
          <a:xfrm>
            <a:off x="228600" y="1188720"/>
            <a:ext cx="2057400" cy="685800"/>
          </a:xfrm>
          <a:prstGeom prst="rect">
            <a:avLst/>
          </a:prstGeom>
          <a:noFill/>
          <a:ln/>
        </p:spPr>
        <p:txBody>
          <a:bodyPr wrap="square" rtlCol="0" anchor="ctr"/>
          <a:lstStyle/>
          <a:p>
            <a:pPr algn="ctr" indent="0" marL="0">
              <a:buNone/>
            </a:pPr>
            <a:r>
              <a:rPr lang="en-US" sz="3600" b="1" dirty="0">
                <a:solidFill>
                  <a:srgbClr val="27AE60"/>
                </a:solidFill>
              </a:rPr>
              <a:t>5</a:t>
            </a:r>
            <a:endParaRPr lang="en-US" sz="3600" dirty="0"/>
          </a:p>
        </p:txBody>
      </p:sp>
      <p:sp>
        <p:nvSpPr>
          <p:cNvPr id="7" name="Text 4"/>
          <p:cNvSpPr/>
          <p:nvPr/>
        </p:nvSpPr>
        <p:spPr>
          <a:xfrm>
            <a:off x="228600" y="1828800"/>
            <a:ext cx="2057400" cy="365760"/>
          </a:xfrm>
          <a:prstGeom prst="rect">
            <a:avLst/>
          </a:prstGeom>
          <a:noFill/>
          <a:ln/>
        </p:spPr>
        <p:txBody>
          <a:bodyPr wrap="square" rtlCol="0" anchor="ctr"/>
          <a:lstStyle/>
          <a:p>
            <a:pPr algn="ctr" indent="0" marL="0">
              <a:buNone/>
            </a:pPr>
            <a:r>
              <a:rPr lang="en-US" sz="1100" b="1" dirty="0">
                <a:solidFill>
                  <a:srgbClr val="FFFFFF"/>
                </a:solidFill>
              </a:rPr>
              <a:t>Écrans fonctionnels</a:t>
            </a:r>
            <a:endParaRPr lang="en-US" sz="1100" dirty="0"/>
          </a:p>
        </p:txBody>
      </p:sp>
      <p:sp>
        <p:nvSpPr>
          <p:cNvPr id="8" name="Text 5"/>
          <p:cNvSpPr/>
          <p:nvPr/>
        </p:nvSpPr>
        <p:spPr>
          <a:xfrm>
            <a:off x="228600" y="2212848"/>
            <a:ext cx="2057400" cy="320040"/>
          </a:xfrm>
          <a:prstGeom prst="rect">
            <a:avLst/>
          </a:prstGeom>
          <a:noFill/>
          <a:ln/>
        </p:spPr>
        <p:txBody>
          <a:bodyPr wrap="square" rtlCol="0" anchor="ctr"/>
          <a:lstStyle/>
          <a:p>
            <a:pPr algn="ctr" indent="0" marL="0">
              <a:buNone/>
            </a:pPr>
            <a:r>
              <a:rPr lang="en-US" sz="900" dirty="0">
                <a:solidFill>
                  <a:srgbClr val="7ABAAA"/>
                </a:solidFill>
              </a:rPr>
              <a:t>Auth, Scan, Météo, Pratiques, Profil</a:t>
            </a:r>
            <a:endParaRPr lang="en-US" sz="900" dirty="0"/>
          </a:p>
        </p:txBody>
      </p:sp>
      <p:sp>
        <p:nvSpPr>
          <p:cNvPr id="9" name="Shape 6"/>
          <p:cNvSpPr/>
          <p:nvPr/>
        </p:nvSpPr>
        <p:spPr>
          <a:xfrm>
            <a:off x="2441448" y="1097280"/>
            <a:ext cx="2057400" cy="1463040"/>
          </a:xfrm>
          <a:prstGeom prst="rect">
            <a:avLst/>
          </a:prstGeom>
          <a:solidFill>
            <a:srgbClr val="0F2A1E"/>
          </a:solidFill>
          <a:ln w="12700">
            <a:solidFill>
              <a:srgbClr val="27AE60"/>
            </a:solidFill>
            <a:prstDash val="solid"/>
          </a:ln>
        </p:spPr>
      </p:sp>
      <p:sp>
        <p:nvSpPr>
          <p:cNvPr id="10" name="Text 7"/>
          <p:cNvSpPr/>
          <p:nvPr/>
        </p:nvSpPr>
        <p:spPr>
          <a:xfrm>
            <a:off x="2441448" y="1188720"/>
            <a:ext cx="2057400" cy="685800"/>
          </a:xfrm>
          <a:prstGeom prst="rect">
            <a:avLst/>
          </a:prstGeom>
          <a:noFill/>
          <a:ln/>
        </p:spPr>
        <p:txBody>
          <a:bodyPr wrap="square" rtlCol="0" anchor="ctr"/>
          <a:lstStyle/>
          <a:p>
            <a:pPr algn="ctr" indent="0" marL="0">
              <a:buNone/>
            </a:pPr>
            <a:r>
              <a:rPr lang="en-US" sz="3600" b="1" dirty="0">
                <a:solidFill>
                  <a:srgbClr val="27AE60"/>
                </a:solidFill>
              </a:rPr>
              <a:t>4</a:t>
            </a:r>
            <a:endParaRPr lang="en-US" sz="3600" dirty="0"/>
          </a:p>
        </p:txBody>
      </p:sp>
      <p:sp>
        <p:nvSpPr>
          <p:cNvPr id="11" name="Text 8"/>
          <p:cNvSpPr/>
          <p:nvPr/>
        </p:nvSpPr>
        <p:spPr>
          <a:xfrm>
            <a:off x="2441448" y="1828800"/>
            <a:ext cx="2057400" cy="365760"/>
          </a:xfrm>
          <a:prstGeom prst="rect">
            <a:avLst/>
          </a:prstGeom>
          <a:noFill/>
          <a:ln/>
        </p:spPr>
        <p:txBody>
          <a:bodyPr wrap="square" rtlCol="0" anchor="ctr"/>
          <a:lstStyle/>
          <a:p>
            <a:pPr algn="ctr" indent="0" marL="0">
              <a:buNone/>
            </a:pPr>
            <a:r>
              <a:rPr lang="en-US" sz="1100" b="1" dirty="0">
                <a:solidFill>
                  <a:srgbClr val="FFFFFF"/>
                </a:solidFill>
              </a:rPr>
              <a:t>Maladies diagnostiquées</a:t>
            </a:r>
            <a:endParaRPr lang="en-US" sz="1100" dirty="0"/>
          </a:p>
        </p:txBody>
      </p:sp>
      <p:sp>
        <p:nvSpPr>
          <p:cNvPr id="12" name="Text 9"/>
          <p:cNvSpPr/>
          <p:nvPr/>
        </p:nvSpPr>
        <p:spPr>
          <a:xfrm>
            <a:off x="2441448" y="2212848"/>
            <a:ext cx="2057400" cy="320040"/>
          </a:xfrm>
          <a:prstGeom prst="rect">
            <a:avLst/>
          </a:prstGeom>
          <a:noFill/>
          <a:ln/>
        </p:spPr>
        <p:txBody>
          <a:bodyPr wrap="square" rtlCol="0" anchor="ctr"/>
          <a:lstStyle/>
          <a:p>
            <a:pPr algn="ctr" indent="0" marL="0">
              <a:buNone/>
            </a:pPr>
            <a:r>
              <a:rPr lang="en-US" sz="900" dirty="0">
                <a:solidFill>
                  <a:srgbClr val="7ABAAA"/>
                </a:solidFill>
              </a:rPr>
              <a:t>Pourriture brune &amp; autres pathologies</a:t>
            </a:r>
            <a:endParaRPr lang="en-US" sz="900" dirty="0"/>
          </a:p>
        </p:txBody>
      </p:sp>
      <p:sp>
        <p:nvSpPr>
          <p:cNvPr id="13" name="Shape 10"/>
          <p:cNvSpPr/>
          <p:nvPr/>
        </p:nvSpPr>
        <p:spPr>
          <a:xfrm>
            <a:off x="4654296" y="1097280"/>
            <a:ext cx="2057400" cy="1463040"/>
          </a:xfrm>
          <a:prstGeom prst="rect">
            <a:avLst/>
          </a:prstGeom>
          <a:solidFill>
            <a:srgbClr val="0F2A1E"/>
          </a:solidFill>
          <a:ln w="12700">
            <a:solidFill>
              <a:srgbClr val="27AE60"/>
            </a:solidFill>
            <a:prstDash val="solid"/>
          </a:ln>
        </p:spPr>
      </p:sp>
      <p:sp>
        <p:nvSpPr>
          <p:cNvPr id="14" name="Text 11"/>
          <p:cNvSpPr/>
          <p:nvPr/>
        </p:nvSpPr>
        <p:spPr>
          <a:xfrm>
            <a:off x="4654296" y="1188720"/>
            <a:ext cx="2057400" cy="685800"/>
          </a:xfrm>
          <a:prstGeom prst="rect">
            <a:avLst/>
          </a:prstGeom>
          <a:noFill/>
          <a:ln/>
        </p:spPr>
        <p:txBody>
          <a:bodyPr wrap="square" rtlCol="0" anchor="ctr"/>
          <a:lstStyle/>
          <a:p>
            <a:pPr algn="ctr" indent="0" marL="0">
              <a:buNone/>
            </a:pPr>
            <a:r>
              <a:rPr lang="en-US" sz="3600" b="1" dirty="0">
                <a:solidFill>
                  <a:srgbClr val="27AE60"/>
                </a:solidFill>
              </a:rPr>
              <a:t>7J</a:t>
            </a:r>
            <a:endParaRPr lang="en-US" sz="3600" dirty="0"/>
          </a:p>
        </p:txBody>
      </p:sp>
      <p:sp>
        <p:nvSpPr>
          <p:cNvPr id="15" name="Text 12"/>
          <p:cNvSpPr/>
          <p:nvPr/>
        </p:nvSpPr>
        <p:spPr>
          <a:xfrm>
            <a:off x="4654296" y="1828800"/>
            <a:ext cx="2057400" cy="365760"/>
          </a:xfrm>
          <a:prstGeom prst="rect">
            <a:avLst/>
          </a:prstGeom>
          <a:noFill/>
          <a:ln/>
        </p:spPr>
        <p:txBody>
          <a:bodyPr wrap="square" rtlCol="0" anchor="ctr"/>
          <a:lstStyle/>
          <a:p>
            <a:pPr algn="ctr" indent="0" marL="0">
              <a:buNone/>
            </a:pPr>
            <a:r>
              <a:rPr lang="en-US" sz="1100" b="1" dirty="0">
                <a:solidFill>
                  <a:srgbClr val="FFFFFF"/>
                </a:solidFill>
              </a:rPr>
              <a:t>Prévisions météo</a:t>
            </a:r>
            <a:endParaRPr lang="en-US" sz="1100" dirty="0"/>
          </a:p>
        </p:txBody>
      </p:sp>
      <p:sp>
        <p:nvSpPr>
          <p:cNvPr id="16" name="Text 13"/>
          <p:cNvSpPr/>
          <p:nvPr/>
        </p:nvSpPr>
        <p:spPr>
          <a:xfrm>
            <a:off x="4654296" y="2212848"/>
            <a:ext cx="2057400" cy="320040"/>
          </a:xfrm>
          <a:prstGeom prst="rect">
            <a:avLst/>
          </a:prstGeom>
          <a:noFill/>
          <a:ln/>
        </p:spPr>
        <p:txBody>
          <a:bodyPr wrap="square" rtlCol="0" anchor="ctr"/>
          <a:lstStyle/>
          <a:p>
            <a:pPr algn="ctr" indent="0" marL="0">
              <a:buNone/>
            </a:pPr>
            <a:r>
              <a:rPr lang="en-US" sz="900" dirty="0">
                <a:solidFill>
                  <a:srgbClr val="7ABAAA"/>
                </a:solidFill>
              </a:rPr>
              <a:t>Données Open-Meteo géolocalisées</a:t>
            </a:r>
            <a:endParaRPr lang="en-US" sz="900" dirty="0"/>
          </a:p>
        </p:txBody>
      </p:sp>
      <p:sp>
        <p:nvSpPr>
          <p:cNvPr id="17" name="Shape 14"/>
          <p:cNvSpPr/>
          <p:nvPr/>
        </p:nvSpPr>
        <p:spPr>
          <a:xfrm>
            <a:off x="6867144" y="1097280"/>
            <a:ext cx="2057400" cy="1463040"/>
          </a:xfrm>
          <a:prstGeom prst="rect">
            <a:avLst/>
          </a:prstGeom>
          <a:solidFill>
            <a:srgbClr val="0F2A1E"/>
          </a:solidFill>
          <a:ln w="12700">
            <a:solidFill>
              <a:srgbClr val="27AE60"/>
            </a:solidFill>
            <a:prstDash val="solid"/>
          </a:ln>
        </p:spPr>
      </p:sp>
      <p:sp>
        <p:nvSpPr>
          <p:cNvPr id="18" name="Text 15"/>
          <p:cNvSpPr/>
          <p:nvPr/>
        </p:nvSpPr>
        <p:spPr>
          <a:xfrm>
            <a:off x="6867144" y="1188720"/>
            <a:ext cx="2057400" cy="685800"/>
          </a:xfrm>
          <a:prstGeom prst="rect">
            <a:avLst/>
          </a:prstGeom>
          <a:noFill/>
          <a:ln/>
        </p:spPr>
        <p:txBody>
          <a:bodyPr wrap="square" rtlCol="0" anchor="ctr"/>
          <a:lstStyle/>
          <a:p>
            <a:pPr algn="ctr" indent="0" marL="0">
              <a:buNone/>
            </a:pPr>
            <a:r>
              <a:rPr lang="en-US" sz="3600" b="1" dirty="0">
                <a:solidFill>
                  <a:srgbClr val="27AE60"/>
                </a:solidFill>
              </a:rPr>
              <a:t>100%</a:t>
            </a:r>
            <a:endParaRPr lang="en-US" sz="3600" dirty="0"/>
          </a:p>
        </p:txBody>
      </p:sp>
      <p:sp>
        <p:nvSpPr>
          <p:cNvPr id="19" name="Text 16"/>
          <p:cNvSpPr/>
          <p:nvPr/>
        </p:nvSpPr>
        <p:spPr>
          <a:xfrm>
            <a:off x="6867144" y="1828800"/>
            <a:ext cx="2057400" cy="365760"/>
          </a:xfrm>
          <a:prstGeom prst="rect">
            <a:avLst/>
          </a:prstGeom>
          <a:noFill/>
          <a:ln/>
        </p:spPr>
        <p:txBody>
          <a:bodyPr wrap="square" rtlCol="0" anchor="ctr"/>
          <a:lstStyle/>
          <a:p>
            <a:pPr algn="ctr" indent="0" marL="0">
              <a:buNone/>
            </a:pPr>
            <a:r>
              <a:rPr lang="en-US" sz="1100" b="1" dirty="0">
                <a:solidFill>
                  <a:srgbClr val="FFFFFF"/>
                </a:solidFill>
              </a:rPr>
              <a:t>Offline-first</a:t>
            </a:r>
            <a:endParaRPr lang="en-US" sz="1100" dirty="0"/>
          </a:p>
        </p:txBody>
      </p:sp>
      <p:sp>
        <p:nvSpPr>
          <p:cNvPr id="20" name="Text 17"/>
          <p:cNvSpPr/>
          <p:nvPr/>
        </p:nvSpPr>
        <p:spPr>
          <a:xfrm>
            <a:off x="6867144" y="2212848"/>
            <a:ext cx="2057400" cy="320040"/>
          </a:xfrm>
          <a:prstGeom prst="rect">
            <a:avLst/>
          </a:prstGeom>
          <a:noFill/>
          <a:ln/>
        </p:spPr>
        <p:txBody>
          <a:bodyPr wrap="square" rtlCol="0" anchor="ctr"/>
          <a:lstStyle/>
          <a:p>
            <a:pPr algn="ctr" indent="0" marL="0">
              <a:buNone/>
            </a:pPr>
            <a:r>
              <a:rPr lang="en-US" sz="900" dirty="0">
                <a:solidFill>
                  <a:srgbClr val="7ABAAA"/>
                </a:solidFill>
              </a:rPr>
              <a:t>Diagnostic &amp; bonnes pratiques hors ligne</a:t>
            </a:r>
            <a:endParaRPr lang="en-US" sz="900" dirty="0"/>
          </a:p>
        </p:txBody>
      </p:sp>
      <p:sp>
        <p:nvSpPr>
          <p:cNvPr id="21" name="Text 18"/>
          <p:cNvSpPr/>
          <p:nvPr/>
        </p:nvSpPr>
        <p:spPr>
          <a:xfrm>
            <a:off x="320040" y="2743200"/>
            <a:ext cx="4572000" cy="411480"/>
          </a:xfrm>
          <a:prstGeom prst="rect">
            <a:avLst/>
          </a:prstGeom>
          <a:noFill/>
          <a:ln/>
        </p:spPr>
        <p:txBody>
          <a:bodyPr wrap="square" rtlCol="0" anchor="ctr"/>
          <a:lstStyle/>
          <a:p>
            <a:pPr indent="0" marL="0">
              <a:buNone/>
            </a:pPr>
            <a:r>
              <a:rPr lang="en-US" sz="1600" b="1" dirty="0">
                <a:solidFill>
                  <a:srgbClr val="1A7A4A"/>
                </a:solidFill>
              </a:rPr>
              <a:t>Discussion</a:t>
            </a:r>
            <a:endParaRPr lang="en-US" sz="1600" dirty="0"/>
          </a:p>
        </p:txBody>
      </p:sp>
      <p:sp>
        <p:nvSpPr>
          <p:cNvPr id="22" name="Text 19"/>
          <p:cNvSpPr/>
          <p:nvPr/>
        </p:nvSpPr>
        <p:spPr>
          <a:xfrm>
            <a:off x="320040" y="3200400"/>
            <a:ext cx="365760" cy="384048"/>
          </a:xfrm>
          <a:prstGeom prst="rect">
            <a:avLst/>
          </a:prstGeom>
          <a:noFill/>
          <a:ln/>
        </p:spPr>
        <p:txBody>
          <a:bodyPr wrap="square" rtlCol="0" anchor="ctr"/>
          <a:lstStyle/>
          <a:p>
            <a:pPr algn="ctr" indent="0" marL="0">
              <a:buNone/>
            </a:pPr>
            <a:r>
              <a:rPr lang="en-US" sz="1400" dirty="0">
                <a:solidFill>
                  <a:srgbClr val="000000"/>
                </a:solidFill>
              </a:rPr>
              <a:t>✅</a:t>
            </a:r>
            <a:endParaRPr lang="en-US" sz="1400" dirty="0"/>
          </a:p>
        </p:txBody>
      </p:sp>
      <p:sp>
        <p:nvSpPr>
          <p:cNvPr id="23" name="Text 20"/>
          <p:cNvSpPr/>
          <p:nvPr/>
        </p:nvSpPr>
        <p:spPr>
          <a:xfrm>
            <a:off x="731520" y="3200400"/>
            <a:ext cx="8046720" cy="384048"/>
          </a:xfrm>
          <a:prstGeom prst="rect">
            <a:avLst/>
          </a:prstGeom>
          <a:noFill/>
          <a:ln/>
        </p:spPr>
        <p:txBody>
          <a:bodyPr wrap="square" rtlCol="0" anchor="ctr"/>
          <a:lstStyle/>
          <a:p>
            <a:pPr indent="0" marL="0">
              <a:buNone/>
            </a:pPr>
            <a:r>
              <a:rPr lang="en-US" sz="1200" dirty="0">
                <a:solidFill>
                  <a:srgbClr val="2E5740"/>
                </a:solidFill>
              </a:rPr>
              <a:t>Fonctionnalités clés opérationnelles : diagnostic, météo, bonnes pratiques, authentification</a:t>
            </a:r>
            <a:endParaRPr lang="en-US" sz="1200" dirty="0"/>
          </a:p>
        </p:txBody>
      </p:sp>
      <p:sp>
        <p:nvSpPr>
          <p:cNvPr id="24" name="Text 21"/>
          <p:cNvSpPr/>
          <p:nvPr/>
        </p:nvSpPr>
        <p:spPr>
          <a:xfrm>
            <a:off x="320040" y="3639312"/>
            <a:ext cx="365760" cy="384048"/>
          </a:xfrm>
          <a:prstGeom prst="rect">
            <a:avLst/>
          </a:prstGeom>
          <a:noFill/>
          <a:ln/>
        </p:spPr>
        <p:txBody>
          <a:bodyPr wrap="square" rtlCol="0" anchor="ctr"/>
          <a:lstStyle/>
          <a:p>
            <a:pPr algn="ctr" indent="0" marL="0">
              <a:buNone/>
            </a:pPr>
            <a:r>
              <a:rPr lang="en-US" sz="1400" dirty="0">
                <a:solidFill>
                  <a:srgbClr val="000000"/>
                </a:solidFill>
              </a:rPr>
              <a:t>✅</a:t>
            </a:r>
            <a:endParaRPr lang="en-US" sz="1400" dirty="0"/>
          </a:p>
        </p:txBody>
      </p:sp>
      <p:sp>
        <p:nvSpPr>
          <p:cNvPr id="25" name="Text 22"/>
          <p:cNvSpPr/>
          <p:nvPr/>
        </p:nvSpPr>
        <p:spPr>
          <a:xfrm>
            <a:off x="731520" y="3639312"/>
            <a:ext cx="8046720" cy="384048"/>
          </a:xfrm>
          <a:prstGeom prst="rect">
            <a:avLst/>
          </a:prstGeom>
          <a:noFill/>
          <a:ln/>
        </p:spPr>
        <p:txBody>
          <a:bodyPr wrap="square" rtlCol="0" anchor="ctr"/>
          <a:lstStyle/>
          <a:p>
            <a:pPr indent="0" marL="0">
              <a:buNone/>
            </a:pPr>
            <a:r>
              <a:rPr lang="en-US" sz="1200" dirty="0">
                <a:solidFill>
                  <a:srgbClr val="2E5740"/>
                </a:solidFill>
              </a:rPr>
              <a:t>Architecture Offline-First réussie : l'application fonctionne sans internet pour les cas d'usage terrain</a:t>
            </a:r>
            <a:endParaRPr lang="en-US" sz="1200" dirty="0"/>
          </a:p>
        </p:txBody>
      </p:sp>
      <p:sp>
        <p:nvSpPr>
          <p:cNvPr id="26" name="Text 23"/>
          <p:cNvSpPr/>
          <p:nvPr/>
        </p:nvSpPr>
        <p:spPr>
          <a:xfrm>
            <a:off x="320040" y="4078224"/>
            <a:ext cx="365760" cy="384048"/>
          </a:xfrm>
          <a:prstGeom prst="rect">
            <a:avLst/>
          </a:prstGeom>
          <a:noFill/>
          <a:ln/>
        </p:spPr>
        <p:txBody>
          <a:bodyPr wrap="square" rtlCol="0" anchor="ctr"/>
          <a:lstStyle/>
          <a:p>
            <a:pPr algn="ctr" indent="0" marL="0">
              <a:buNone/>
            </a:pPr>
            <a:r>
              <a:rPr lang="en-US" sz="1400" dirty="0">
                <a:solidFill>
                  <a:srgbClr val="000000"/>
                </a:solidFill>
              </a:rPr>
              <a:t>⚠️</a:t>
            </a:r>
            <a:endParaRPr lang="en-US" sz="1400" dirty="0"/>
          </a:p>
        </p:txBody>
      </p:sp>
      <p:sp>
        <p:nvSpPr>
          <p:cNvPr id="27" name="Text 24"/>
          <p:cNvSpPr/>
          <p:nvPr/>
        </p:nvSpPr>
        <p:spPr>
          <a:xfrm>
            <a:off x="731520" y="4078224"/>
            <a:ext cx="8046720" cy="384048"/>
          </a:xfrm>
          <a:prstGeom prst="rect">
            <a:avLst/>
          </a:prstGeom>
          <a:noFill/>
          <a:ln/>
        </p:spPr>
        <p:txBody>
          <a:bodyPr wrap="square" rtlCol="0" anchor="ctr"/>
          <a:lstStyle/>
          <a:p>
            <a:pPr indent="0" marL="0">
              <a:buNone/>
            </a:pPr>
            <a:r>
              <a:rPr lang="en-US" sz="1200" dirty="0">
                <a:solidFill>
                  <a:srgbClr val="2E5740"/>
                </a:solidFill>
              </a:rPr>
              <a:t>Limitation : le diagnostic reste simulé (système expert) et non une véritable IA par reconnaissance d'image</a:t>
            </a:r>
            <a:endParaRPr lang="en-US" sz="1200" dirty="0"/>
          </a:p>
        </p:txBody>
      </p:sp>
      <p:sp>
        <p:nvSpPr>
          <p:cNvPr id="28" name="Text 25"/>
          <p:cNvSpPr/>
          <p:nvPr/>
        </p:nvSpPr>
        <p:spPr>
          <a:xfrm>
            <a:off x="320040" y="4517136"/>
            <a:ext cx="365760" cy="384048"/>
          </a:xfrm>
          <a:prstGeom prst="rect">
            <a:avLst/>
          </a:prstGeom>
          <a:noFill/>
          <a:ln/>
        </p:spPr>
        <p:txBody>
          <a:bodyPr wrap="square" rtlCol="0" anchor="ctr"/>
          <a:lstStyle/>
          <a:p>
            <a:pPr algn="ctr" indent="0" marL="0">
              <a:buNone/>
            </a:pPr>
            <a:r>
              <a:rPr lang="en-US" sz="1400" dirty="0">
                <a:solidFill>
                  <a:srgbClr val="000000"/>
                </a:solidFill>
              </a:rPr>
              <a:t>🔄</a:t>
            </a:r>
            <a:endParaRPr lang="en-US" sz="1400" dirty="0"/>
          </a:p>
        </p:txBody>
      </p:sp>
      <p:sp>
        <p:nvSpPr>
          <p:cNvPr id="29" name="Text 26"/>
          <p:cNvSpPr/>
          <p:nvPr/>
        </p:nvSpPr>
        <p:spPr>
          <a:xfrm>
            <a:off x="731520" y="4517136"/>
            <a:ext cx="8046720" cy="384048"/>
          </a:xfrm>
          <a:prstGeom prst="rect">
            <a:avLst/>
          </a:prstGeom>
          <a:noFill/>
          <a:ln/>
        </p:spPr>
        <p:txBody>
          <a:bodyPr wrap="square" rtlCol="0" anchor="ctr"/>
          <a:lstStyle/>
          <a:p>
            <a:pPr indent="0" marL="0">
              <a:buNone/>
            </a:pPr>
            <a:r>
              <a:rPr lang="en-US" sz="1200" dirty="0">
                <a:solidFill>
                  <a:srgbClr val="2E5740"/>
                </a:solidFill>
              </a:rPr>
              <a:t>Amélioration possible : intégration d'un modèle ML (TensorFlow Lite) pour un vrai diagnostic photo</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2A1E"/>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7AE60"/>
          </a:solidFill>
          <a:ln w="12700">
            <a:solidFill>
              <a:srgbClr val="27AE60"/>
            </a:solidFill>
            <a:prstDash val="solid"/>
          </a:ln>
        </p:spPr>
      </p:sp>
      <p:sp>
        <p:nvSpPr>
          <p:cNvPr id="3" name="Text 1"/>
          <p:cNvSpPr/>
          <p:nvPr/>
        </p:nvSpPr>
        <p:spPr>
          <a:xfrm>
            <a:off x="320040" y="182880"/>
            <a:ext cx="8229600" cy="640080"/>
          </a:xfrm>
          <a:prstGeom prst="rect">
            <a:avLst/>
          </a:prstGeom>
          <a:noFill/>
          <a:ln/>
        </p:spPr>
        <p:txBody>
          <a:bodyPr wrap="square" rtlCol="0" anchor="ctr"/>
          <a:lstStyle/>
          <a:p>
            <a:pPr indent="0" marL="0">
              <a:buNone/>
            </a:pPr>
            <a:r>
              <a:rPr lang="en-US" sz="3000" b="1" dirty="0">
                <a:solidFill>
                  <a:srgbClr val="FFFFFF"/>
                </a:solidFill>
              </a:rPr>
              <a:t>Conclusion &amp; Perspectives</a:t>
            </a:r>
            <a:endParaRPr lang="en-US" sz="3000" dirty="0"/>
          </a:p>
        </p:txBody>
      </p:sp>
      <p:sp>
        <p:nvSpPr>
          <p:cNvPr id="4" name="Shape 2"/>
          <p:cNvSpPr/>
          <p:nvPr/>
        </p:nvSpPr>
        <p:spPr>
          <a:xfrm>
            <a:off x="320040" y="804672"/>
            <a:ext cx="3200400" cy="36576"/>
          </a:xfrm>
          <a:prstGeom prst="rect">
            <a:avLst/>
          </a:prstGeom>
          <a:solidFill>
            <a:srgbClr val="27AE60"/>
          </a:solidFill>
          <a:ln w="12700">
            <a:solidFill>
              <a:srgbClr val="27AE60"/>
            </a:solidFill>
            <a:prstDash val="solid"/>
          </a:ln>
        </p:spPr>
      </p:sp>
      <p:sp>
        <p:nvSpPr>
          <p:cNvPr id="5" name="Shape 3"/>
          <p:cNvSpPr/>
          <p:nvPr/>
        </p:nvSpPr>
        <p:spPr>
          <a:xfrm>
            <a:off x="320040" y="960120"/>
            <a:ext cx="8503920" cy="1691640"/>
          </a:xfrm>
          <a:prstGeom prst="rect">
            <a:avLst/>
          </a:prstGeom>
          <a:solidFill>
            <a:srgbClr val="0D2218"/>
          </a:solidFill>
          <a:ln w="12700">
            <a:solidFill>
              <a:srgbClr val="1A7A4A"/>
            </a:solidFill>
            <a:prstDash val="solid"/>
          </a:ln>
        </p:spPr>
      </p:sp>
      <p:sp>
        <p:nvSpPr>
          <p:cNvPr id="6" name="Text 4"/>
          <p:cNvSpPr/>
          <p:nvPr/>
        </p:nvSpPr>
        <p:spPr>
          <a:xfrm>
            <a:off x="502920" y="1024128"/>
            <a:ext cx="3657600" cy="365760"/>
          </a:xfrm>
          <a:prstGeom prst="rect">
            <a:avLst/>
          </a:prstGeom>
          <a:noFill/>
          <a:ln/>
        </p:spPr>
        <p:txBody>
          <a:bodyPr wrap="square" rtlCol="0" anchor="ctr"/>
          <a:lstStyle/>
          <a:p>
            <a:pPr indent="0" marL="0">
              <a:buNone/>
            </a:pPr>
            <a:r>
              <a:rPr lang="en-US" sz="1500" b="1" dirty="0">
                <a:solidFill>
                  <a:srgbClr val="4CAF8A"/>
                </a:solidFill>
              </a:rPr>
              <a:t>Conclusion</a:t>
            </a:r>
            <a:endParaRPr lang="en-US" sz="1500" dirty="0"/>
          </a:p>
        </p:txBody>
      </p:sp>
      <p:sp>
        <p:nvSpPr>
          <p:cNvPr id="7" name="Text 5"/>
          <p:cNvSpPr/>
          <p:nvPr/>
        </p:nvSpPr>
        <p:spPr>
          <a:xfrm>
            <a:off x="502920" y="1417320"/>
            <a:ext cx="8229600" cy="1188720"/>
          </a:xfrm>
          <a:prstGeom prst="rect">
            <a:avLst/>
          </a:prstGeom>
          <a:noFill/>
          <a:ln/>
        </p:spPr>
        <p:txBody>
          <a:bodyPr wrap="square" rtlCol="0" anchor="ctr"/>
          <a:lstStyle/>
          <a:p>
            <a:pPr indent="0" marL="0">
              <a:buNone/>
            </a:pPr>
            <a:r>
              <a:rPr lang="en-US" sz="1200" dirty="0">
                <a:solidFill>
                  <a:srgbClr val="AACCBB"/>
                </a:solidFill>
              </a:rPr>
              <a:t>Smart Scan AI démontre qu'il est possible de mettre la technologie au service de l'agriculture africaine avec un budget minimal. L'application répond aux besoins concrets des producteurs de cacao en combinant diagnostic intelligent, météo localisée et conseils agricoles — le tout accessible hors ligne.</a:t>
            </a:r>
            <a:endParaRPr lang="en-US" sz="1200" dirty="0"/>
          </a:p>
        </p:txBody>
      </p:sp>
      <p:sp>
        <p:nvSpPr>
          <p:cNvPr id="8" name="Text 6"/>
          <p:cNvSpPr/>
          <p:nvPr/>
        </p:nvSpPr>
        <p:spPr>
          <a:xfrm>
            <a:off x="320040" y="2788920"/>
            <a:ext cx="4572000" cy="411480"/>
          </a:xfrm>
          <a:prstGeom prst="rect">
            <a:avLst/>
          </a:prstGeom>
          <a:noFill/>
          <a:ln/>
        </p:spPr>
        <p:txBody>
          <a:bodyPr wrap="square" rtlCol="0" anchor="ctr"/>
          <a:lstStyle/>
          <a:p>
            <a:pPr indent="0" marL="0">
              <a:buNone/>
            </a:pPr>
            <a:r>
              <a:rPr lang="en-US" sz="1500" b="1" dirty="0">
                <a:solidFill>
                  <a:srgbClr val="F4A015"/>
                </a:solidFill>
              </a:rPr>
              <a:t>Perspectives d'évolution</a:t>
            </a:r>
            <a:endParaRPr lang="en-US" sz="1500" dirty="0"/>
          </a:p>
        </p:txBody>
      </p:sp>
      <p:sp>
        <p:nvSpPr>
          <p:cNvPr id="9" name="Text 7"/>
          <p:cNvSpPr/>
          <p:nvPr/>
        </p:nvSpPr>
        <p:spPr>
          <a:xfrm>
            <a:off x="320040" y="3246120"/>
            <a:ext cx="411480" cy="347472"/>
          </a:xfrm>
          <a:prstGeom prst="rect">
            <a:avLst/>
          </a:prstGeom>
          <a:noFill/>
          <a:ln/>
        </p:spPr>
        <p:txBody>
          <a:bodyPr wrap="square" rtlCol="0" anchor="ctr"/>
          <a:lstStyle/>
          <a:p>
            <a:pPr algn="ctr" indent="0" marL="0">
              <a:buNone/>
            </a:pPr>
            <a:r>
              <a:rPr lang="en-US" sz="1300" dirty="0">
                <a:solidFill>
                  <a:srgbClr val="000000"/>
                </a:solidFill>
              </a:rPr>
              <a:t>🤖</a:t>
            </a:r>
            <a:endParaRPr lang="en-US" sz="1300" dirty="0"/>
          </a:p>
        </p:txBody>
      </p:sp>
      <p:sp>
        <p:nvSpPr>
          <p:cNvPr id="10" name="Text 8"/>
          <p:cNvSpPr/>
          <p:nvPr/>
        </p:nvSpPr>
        <p:spPr>
          <a:xfrm>
            <a:off x="777240" y="3246120"/>
            <a:ext cx="8046720" cy="347472"/>
          </a:xfrm>
          <a:prstGeom prst="rect">
            <a:avLst/>
          </a:prstGeom>
          <a:noFill/>
          <a:ln/>
        </p:spPr>
        <p:txBody>
          <a:bodyPr wrap="square" rtlCol="0" anchor="ctr"/>
          <a:lstStyle/>
          <a:p>
            <a:pPr indent="0" marL="0">
              <a:buNone/>
            </a:pPr>
            <a:r>
              <a:rPr lang="en-US" sz="1150" dirty="0">
                <a:solidFill>
                  <a:srgbClr val="8BBBA5"/>
                </a:solidFill>
              </a:rPr>
              <a:t>Intégration d'un modèle IA réel (TensorFlow Lite) pour diagnostic photo par vision par ordinateur</a:t>
            </a:r>
            <a:endParaRPr lang="en-US" sz="1150" dirty="0"/>
          </a:p>
        </p:txBody>
      </p:sp>
      <p:sp>
        <p:nvSpPr>
          <p:cNvPr id="11" name="Text 9"/>
          <p:cNvSpPr/>
          <p:nvPr/>
        </p:nvSpPr>
        <p:spPr>
          <a:xfrm>
            <a:off x="320040" y="3639312"/>
            <a:ext cx="411480" cy="347472"/>
          </a:xfrm>
          <a:prstGeom prst="rect">
            <a:avLst/>
          </a:prstGeom>
          <a:noFill/>
          <a:ln/>
        </p:spPr>
        <p:txBody>
          <a:bodyPr wrap="square" rtlCol="0" anchor="ctr"/>
          <a:lstStyle/>
          <a:p>
            <a:pPr algn="ctr" indent="0" marL="0">
              <a:buNone/>
            </a:pPr>
            <a:r>
              <a:rPr lang="en-US" sz="1300" dirty="0">
                <a:solidFill>
                  <a:srgbClr val="000000"/>
                </a:solidFill>
              </a:rPr>
              <a:t>🌐</a:t>
            </a:r>
            <a:endParaRPr lang="en-US" sz="1300" dirty="0"/>
          </a:p>
        </p:txBody>
      </p:sp>
      <p:sp>
        <p:nvSpPr>
          <p:cNvPr id="12" name="Text 10"/>
          <p:cNvSpPr/>
          <p:nvPr/>
        </p:nvSpPr>
        <p:spPr>
          <a:xfrm>
            <a:off x="777240" y="3639312"/>
            <a:ext cx="8046720" cy="347472"/>
          </a:xfrm>
          <a:prstGeom prst="rect">
            <a:avLst/>
          </a:prstGeom>
          <a:noFill/>
          <a:ln/>
        </p:spPr>
        <p:txBody>
          <a:bodyPr wrap="square" rtlCol="0" anchor="ctr"/>
          <a:lstStyle/>
          <a:p>
            <a:pPr indent="0" marL="0">
              <a:buNone/>
            </a:pPr>
            <a:r>
              <a:rPr lang="en-US" sz="1150" dirty="0">
                <a:solidFill>
                  <a:srgbClr val="8BBBA5"/>
                </a:solidFill>
              </a:rPr>
              <a:t>Extension à d'autres cultures (café, palmier) et internationalisation de l'application</a:t>
            </a:r>
            <a:endParaRPr lang="en-US" sz="1150" dirty="0"/>
          </a:p>
        </p:txBody>
      </p:sp>
      <p:sp>
        <p:nvSpPr>
          <p:cNvPr id="13" name="Text 11"/>
          <p:cNvSpPr/>
          <p:nvPr/>
        </p:nvSpPr>
        <p:spPr>
          <a:xfrm>
            <a:off x="320040" y="4032504"/>
            <a:ext cx="411480" cy="347472"/>
          </a:xfrm>
          <a:prstGeom prst="rect">
            <a:avLst/>
          </a:prstGeom>
          <a:noFill/>
          <a:ln/>
        </p:spPr>
        <p:txBody>
          <a:bodyPr wrap="square" rtlCol="0" anchor="ctr"/>
          <a:lstStyle/>
          <a:p>
            <a:pPr algn="ctr" indent="0" marL="0">
              <a:buNone/>
            </a:pPr>
            <a:r>
              <a:rPr lang="en-US" sz="1300" dirty="0">
                <a:solidFill>
                  <a:srgbClr val="000000"/>
                </a:solidFill>
              </a:rPr>
              <a:t>☁️</a:t>
            </a:r>
            <a:endParaRPr lang="en-US" sz="1300" dirty="0"/>
          </a:p>
        </p:txBody>
      </p:sp>
      <p:sp>
        <p:nvSpPr>
          <p:cNvPr id="14" name="Text 12"/>
          <p:cNvSpPr/>
          <p:nvPr/>
        </p:nvSpPr>
        <p:spPr>
          <a:xfrm>
            <a:off x="777240" y="4032504"/>
            <a:ext cx="8046720" cy="347472"/>
          </a:xfrm>
          <a:prstGeom prst="rect">
            <a:avLst/>
          </a:prstGeom>
          <a:noFill/>
          <a:ln/>
        </p:spPr>
        <p:txBody>
          <a:bodyPr wrap="square" rtlCol="0" anchor="ctr"/>
          <a:lstStyle/>
          <a:p>
            <a:pPr indent="0" marL="0">
              <a:buNone/>
            </a:pPr>
            <a:r>
              <a:rPr lang="en-US" sz="1150" dirty="0">
                <a:solidFill>
                  <a:srgbClr val="8BBBA5"/>
                </a:solidFill>
              </a:rPr>
              <a:t>Synchronisation cloud des diagnostics pour suivi longitudinal et alerte communautaire</a:t>
            </a:r>
            <a:endParaRPr lang="en-US" sz="1150" dirty="0"/>
          </a:p>
        </p:txBody>
      </p:sp>
      <p:sp>
        <p:nvSpPr>
          <p:cNvPr id="15" name="Text 13"/>
          <p:cNvSpPr/>
          <p:nvPr/>
        </p:nvSpPr>
        <p:spPr>
          <a:xfrm>
            <a:off x="320040" y="4425696"/>
            <a:ext cx="411480" cy="347472"/>
          </a:xfrm>
          <a:prstGeom prst="rect">
            <a:avLst/>
          </a:prstGeom>
          <a:noFill/>
          <a:ln/>
        </p:spPr>
        <p:txBody>
          <a:bodyPr wrap="square" rtlCol="0" anchor="ctr"/>
          <a:lstStyle/>
          <a:p>
            <a:pPr algn="ctr" indent="0" marL="0">
              <a:buNone/>
            </a:pPr>
            <a:r>
              <a:rPr lang="en-US" sz="1300" dirty="0">
                <a:solidFill>
                  <a:srgbClr val="000000"/>
                </a:solidFill>
              </a:rPr>
              <a:t>📊</a:t>
            </a:r>
            <a:endParaRPr lang="en-US" sz="1300" dirty="0"/>
          </a:p>
        </p:txBody>
      </p:sp>
      <p:sp>
        <p:nvSpPr>
          <p:cNvPr id="16" name="Text 14"/>
          <p:cNvSpPr/>
          <p:nvPr/>
        </p:nvSpPr>
        <p:spPr>
          <a:xfrm>
            <a:off x="777240" y="4425696"/>
            <a:ext cx="8046720" cy="347472"/>
          </a:xfrm>
          <a:prstGeom prst="rect">
            <a:avLst/>
          </a:prstGeom>
          <a:noFill/>
          <a:ln/>
        </p:spPr>
        <p:txBody>
          <a:bodyPr wrap="square" rtlCol="0" anchor="ctr"/>
          <a:lstStyle/>
          <a:p>
            <a:pPr indent="0" marL="0">
              <a:buNone/>
            </a:pPr>
            <a:r>
              <a:rPr lang="en-US" sz="1150" dirty="0">
                <a:solidFill>
                  <a:srgbClr val="8BBBA5"/>
                </a:solidFill>
              </a:rPr>
              <a:t>Tableau de bord analytique pour les agronomes et les coopératives agricoles</a:t>
            </a:r>
            <a:endParaRPr lang="en-US" sz="1150" dirty="0"/>
          </a:p>
        </p:txBody>
      </p:sp>
      <p:sp>
        <p:nvSpPr>
          <p:cNvPr id="17" name="Shape 15"/>
          <p:cNvSpPr/>
          <p:nvPr/>
        </p:nvSpPr>
        <p:spPr>
          <a:xfrm>
            <a:off x="2286000" y="4754880"/>
            <a:ext cx="4572000" cy="292608"/>
          </a:xfrm>
          <a:prstGeom prst="rect">
            <a:avLst/>
          </a:prstGeom>
          <a:solidFill>
            <a:srgbClr val="1A7A4A"/>
          </a:solidFill>
          <a:ln w="12700">
            <a:solidFill>
              <a:srgbClr val="1A7A4A"/>
            </a:solidFill>
            <a:prstDash val="solid"/>
          </a:ln>
        </p:spPr>
      </p:sp>
      <p:sp>
        <p:nvSpPr>
          <p:cNvPr id="18" name="Text 16"/>
          <p:cNvSpPr/>
          <p:nvPr/>
        </p:nvSpPr>
        <p:spPr>
          <a:xfrm>
            <a:off x="2286000" y="4754880"/>
            <a:ext cx="4572000" cy="292608"/>
          </a:xfrm>
          <a:prstGeom prst="rect">
            <a:avLst/>
          </a:prstGeom>
          <a:noFill/>
          <a:ln/>
        </p:spPr>
        <p:txBody>
          <a:bodyPr wrap="square" lIns="0" tIns="0" rIns="0" bIns="0" rtlCol="0" anchor="ctr"/>
          <a:lstStyle/>
          <a:p>
            <a:pPr algn="ctr" indent="0" marL="0">
              <a:buNone/>
            </a:pPr>
            <a:r>
              <a:rPr lang="en-US" sz="1300" b="1" dirty="0">
                <a:solidFill>
                  <a:srgbClr val="FFFFFF"/>
                </a:solidFill>
              </a:rPr>
              <a:t>Merci pour votre attention !</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2A1E"/>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7AE60"/>
          </a:solidFill>
          <a:ln w="12700">
            <a:solidFill>
              <a:srgbClr val="27AE60"/>
            </a:solidFill>
            <a:prstDash val="solid"/>
          </a:ln>
        </p:spPr>
      </p:sp>
      <p:sp>
        <p:nvSpPr>
          <p:cNvPr id="3" name="Text 1"/>
          <p:cNvSpPr/>
          <p:nvPr/>
        </p:nvSpPr>
        <p:spPr>
          <a:xfrm>
            <a:off x="320040" y="228600"/>
            <a:ext cx="8229600" cy="594360"/>
          </a:xfrm>
          <a:prstGeom prst="rect">
            <a:avLst/>
          </a:prstGeom>
          <a:noFill/>
          <a:ln/>
        </p:spPr>
        <p:txBody>
          <a:bodyPr wrap="square" rtlCol="0" anchor="ctr"/>
          <a:lstStyle/>
          <a:p>
            <a:pPr indent="0" marL="0">
              <a:buNone/>
            </a:pPr>
            <a:r>
              <a:rPr lang="en-US" sz="2800" b="1" dirty="0">
                <a:solidFill>
                  <a:srgbClr val="FFFFFF"/>
                </a:solidFill>
              </a:rPr>
              <a:t>Technologies Utilisées</a:t>
            </a:r>
            <a:endParaRPr lang="en-US" sz="2800" dirty="0"/>
          </a:p>
        </p:txBody>
      </p:sp>
      <p:sp>
        <p:nvSpPr>
          <p:cNvPr id="4" name="Shape 2"/>
          <p:cNvSpPr/>
          <p:nvPr/>
        </p:nvSpPr>
        <p:spPr>
          <a:xfrm>
            <a:off x="320040" y="804672"/>
            <a:ext cx="3200400" cy="36576"/>
          </a:xfrm>
          <a:prstGeom prst="rect">
            <a:avLst/>
          </a:prstGeom>
          <a:solidFill>
            <a:srgbClr val="27AE60"/>
          </a:solidFill>
          <a:ln w="12700">
            <a:solidFill>
              <a:srgbClr val="27AE60"/>
            </a:solidFill>
            <a:prstDash val="solid"/>
          </a:ln>
        </p:spPr>
      </p:sp>
      <p:sp>
        <p:nvSpPr>
          <p:cNvPr id="5" name="Shape 3"/>
          <p:cNvSpPr/>
          <p:nvPr/>
        </p:nvSpPr>
        <p:spPr>
          <a:xfrm>
            <a:off x="457200" y="1005840"/>
            <a:ext cx="2651760" cy="3794760"/>
          </a:xfrm>
          <a:prstGeom prst="rect">
            <a:avLst/>
          </a:prstGeom>
          <a:solidFill>
            <a:srgbClr val="0D2218"/>
          </a:solidFill>
          <a:ln w="12700">
            <a:solidFill>
              <a:srgbClr val="1A7A4A"/>
            </a:solidFill>
            <a:prstDash val="solid"/>
          </a:ln>
        </p:spPr>
      </p:sp>
      <p:pic>
        <p:nvPicPr>
          <p:cNvPr id="6" name="Image 0" descr="preencoded.png">    </p:cNvPr>
          <p:cNvPicPr>
            <a:picLocks noChangeAspect="1"/>
          </p:cNvPicPr>
          <p:nvPr/>
        </p:nvPicPr>
        <p:blipFill>
          <a:blip r:embed="rId1"/>
          <a:stretch>
            <a:fillRect/>
          </a:stretch>
        </p:blipFill>
        <p:spPr>
          <a:xfrm>
            <a:off x="1463040" y="1188720"/>
            <a:ext cx="640080" cy="640080"/>
          </a:xfrm>
          <a:prstGeom prst="rect">
            <a:avLst/>
          </a:prstGeom>
        </p:spPr>
      </p:pic>
      <p:sp>
        <p:nvSpPr>
          <p:cNvPr id="7" name="Text 4"/>
          <p:cNvSpPr/>
          <p:nvPr/>
        </p:nvSpPr>
        <p:spPr>
          <a:xfrm>
            <a:off x="457200" y="1920240"/>
            <a:ext cx="2651760" cy="457200"/>
          </a:xfrm>
          <a:prstGeom prst="rect">
            <a:avLst/>
          </a:prstGeom>
          <a:noFill/>
          <a:ln/>
        </p:spPr>
        <p:txBody>
          <a:bodyPr wrap="square" rtlCol="0" anchor="ctr"/>
          <a:lstStyle/>
          <a:p>
            <a:pPr algn="ctr" indent="0" marL="0">
              <a:buNone/>
            </a:pPr>
            <a:r>
              <a:rPr lang="en-US" sz="1400" b="1" dirty="0">
                <a:solidFill>
                  <a:srgbClr val="61DAFB"/>
                </a:solidFill>
              </a:rPr>
              <a:t>React Native (Expo)</a:t>
            </a:r>
            <a:endParaRPr lang="en-US" sz="1400" dirty="0"/>
          </a:p>
        </p:txBody>
      </p:sp>
      <p:sp>
        <p:nvSpPr>
          <p:cNvPr id="8" name="Text 5"/>
          <p:cNvSpPr/>
          <p:nvPr/>
        </p:nvSpPr>
        <p:spPr>
          <a:xfrm>
            <a:off x="594360" y="2468880"/>
            <a:ext cx="2377440" cy="2194560"/>
          </a:xfrm>
          <a:prstGeom prst="rect">
            <a:avLst/>
          </a:prstGeom>
          <a:noFill/>
          <a:ln/>
        </p:spPr>
        <p:txBody>
          <a:bodyPr wrap="square" rtlCol="0" anchor="ctr"/>
          <a:lstStyle/>
          <a:p>
            <a:pPr algn="ctr" indent="0" marL="0">
              <a:buNone/>
            </a:pPr>
            <a:r>
              <a:rPr lang="en-US" sz="1100" dirty="0">
                <a:solidFill>
                  <a:srgbClr val="8BBBA5"/>
                </a:solidFill>
              </a:rPr>
              <a:t>Framework mobile cross-platform pour Android &amp; iOS. Navigation Bottom Tabs, Caméra Expo, interface React Native Paper.</a:t>
            </a:r>
            <a:endParaRPr lang="en-US" sz="1100" dirty="0"/>
          </a:p>
        </p:txBody>
      </p:sp>
      <p:sp>
        <p:nvSpPr>
          <p:cNvPr id="9" name="Shape 6"/>
          <p:cNvSpPr/>
          <p:nvPr/>
        </p:nvSpPr>
        <p:spPr>
          <a:xfrm>
            <a:off x="3337560" y="1005840"/>
            <a:ext cx="2651760" cy="3794760"/>
          </a:xfrm>
          <a:prstGeom prst="rect">
            <a:avLst/>
          </a:prstGeom>
          <a:solidFill>
            <a:srgbClr val="0D2218"/>
          </a:solidFill>
          <a:ln w="12700">
            <a:solidFill>
              <a:srgbClr val="1A7A4A"/>
            </a:solidFill>
            <a:prstDash val="solid"/>
          </a:ln>
        </p:spPr>
      </p:sp>
      <p:pic>
        <p:nvPicPr>
          <p:cNvPr id="10" name="Image 1" descr="preencoded.png">    </p:cNvPr>
          <p:cNvPicPr>
            <a:picLocks noChangeAspect="1"/>
          </p:cNvPicPr>
          <p:nvPr/>
        </p:nvPicPr>
        <p:blipFill>
          <a:blip r:embed="rId2"/>
          <a:stretch>
            <a:fillRect/>
          </a:stretch>
        </p:blipFill>
        <p:spPr>
          <a:xfrm>
            <a:off x="4343400" y="1188720"/>
            <a:ext cx="640080" cy="640080"/>
          </a:xfrm>
          <a:prstGeom prst="rect">
            <a:avLst/>
          </a:prstGeom>
        </p:spPr>
      </p:pic>
      <p:sp>
        <p:nvSpPr>
          <p:cNvPr id="11" name="Text 7"/>
          <p:cNvSpPr/>
          <p:nvPr/>
        </p:nvSpPr>
        <p:spPr>
          <a:xfrm>
            <a:off x="3337560" y="1920240"/>
            <a:ext cx="2651760" cy="457200"/>
          </a:xfrm>
          <a:prstGeom prst="rect">
            <a:avLst/>
          </a:prstGeom>
          <a:noFill/>
          <a:ln/>
        </p:spPr>
        <p:txBody>
          <a:bodyPr wrap="square" rtlCol="0" anchor="ctr"/>
          <a:lstStyle/>
          <a:p>
            <a:pPr algn="ctr" indent="0" marL="0">
              <a:buNone/>
            </a:pPr>
            <a:r>
              <a:rPr lang="en-US" sz="1400" b="1" dirty="0">
                <a:solidFill>
                  <a:srgbClr val="FFA000"/>
                </a:solidFill>
              </a:rPr>
              <a:t>Firebase</a:t>
            </a:r>
            <a:endParaRPr lang="en-US" sz="1400" dirty="0"/>
          </a:p>
        </p:txBody>
      </p:sp>
      <p:sp>
        <p:nvSpPr>
          <p:cNvPr id="12" name="Text 8"/>
          <p:cNvSpPr/>
          <p:nvPr/>
        </p:nvSpPr>
        <p:spPr>
          <a:xfrm>
            <a:off x="3474720" y="2468880"/>
            <a:ext cx="2377440" cy="2194560"/>
          </a:xfrm>
          <a:prstGeom prst="rect">
            <a:avLst/>
          </a:prstGeom>
          <a:noFill/>
          <a:ln/>
        </p:spPr>
        <p:txBody>
          <a:bodyPr wrap="square" rtlCol="0" anchor="ctr"/>
          <a:lstStyle/>
          <a:p>
            <a:pPr algn="ctr" indent="0" marL="0">
              <a:buNone/>
            </a:pPr>
            <a:r>
              <a:rPr lang="en-US" sz="1100" dirty="0">
                <a:solidFill>
                  <a:srgbClr val="8BBBA5"/>
                </a:solidFill>
              </a:rPr>
              <a:t>Firebase Authentication pour la gestion sécurisée des comptes utilisateurs (inscription, connexion, ré-auth).</a:t>
            </a:r>
            <a:endParaRPr lang="en-US" sz="1100" dirty="0"/>
          </a:p>
        </p:txBody>
      </p:sp>
      <p:sp>
        <p:nvSpPr>
          <p:cNvPr id="13" name="Shape 9"/>
          <p:cNvSpPr/>
          <p:nvPr/>
        </p:nvSpPr>
        <p:spPr>
          <a:xfrm>
            <a:off x="6217920" y="1005840"/>
            <a:ext cx="2651760" cy="3794760"/>
          </a:xfrm>
          <a:prstGeom prst="rect">
            <a:avLst/>
          </a:prstGeom>
          <a:solidFill>
            <a:srgbClr val="0D2218"/>
          </a:solidFill>
          <a:ln w="12700">
            <a:solidFill>
              <a:srgbClr val="1A7A4A"/>
            </a:solidFill>
            <a:prstDash val="solid"/>
          </a:ln>
        </p:spPr>
      </p:sp>
      <p:pic>
        <p:nvPicPr>
          <p:cNvPr id="14" name="Image 2" descr="preencoded.png">    </p:cNvPr>
          <p:cNvPicPr>
            <a:picLocks noChangeAspect="1"/>
          </p:cNvPicPr>
          <p:nvPr/>
        </p:nvPicPr>
        <p:blipFill>
          <a:blip r:embed="rId3"/>
          <a:stretch>
            <a:fillRect/>
          </a:stretch>
        </p:blipFill>
        <p:spPr>
          <a:xfrm>
            <a:off x="7223760" y="1188720"/>
            <a:ext cx="640080" cy="640080"/>
          </a:xfrm>
          <a:prstGeom prst="rect">
            <a:avLst/>
          </a:prstGeom>
        </p:spPr>
      </p:pic>
      <p:sp>
        <p:nvSpPr>
          <p:cNvPr id="15" name="Text 10"/>
          <p:cNvSpPr/>
          <p:nvPr/>
        </p:nvSpPr>
        <p:spPr>
          <a:xfrm>
            <a:off x="6217920" y="1920240"/>
            <a:ext cx="2651760" cy="457200"/>
          </a:xfrm>
          <a:prstGeom prst="rect">
            <a:avLst/>
          </a:prstGeom>
          <a:noFill/>
          <a:ln/>
        </p:spPr>
        <p:txBody>
          <a:bodyPr wrap="square" rtlCol="0" anchor="ctr"/>
          <a:lstStyle/>
          <a:p>
            <a:pPr algn="ctr" indent="0" marL="0">
              <a:buNone/>
            </a:pPr>
            <a:r>
              <a:rPr lang="en-US" sz="1400" b="1" dirty="0">
                <a:solidFill>
                  <a:srgbClr val="4CAF8A"/>
                </a:solidFill>
              </a:rPr>
              <a:t>Open-Meteo API</a:t>
            </a:r>
            <a:endParaRPr lang="en-US" sz="1400" dirty="0"/>
          </a:p>
        </p:txBody>
      </p:sp>
      <p:sp>
        <p:nvSpPr>
          <p:cNvPr id="16" name="Text 11"/>
          <p:cNvSpPr/>
          <p:nvPr/>
        </p:nvSpPr>
        <p:spPr>
          <a:xfrm>
            <a:off x="6355080" y="2468880"/>
            <a:ext cx="2377440" cy="2194560"/>
          </a:xfrm>
          <a:prstGeom prst="rect">
            <a:avLst/>
          </a:prstGeom>
          <a:noFill/>
          <a:ln/>
        </p:spPr>
        <p:txBody>
          <a:bodyPr wrap="square" rtlCol="0" anchor="ctr"/>
          <a:lstStyle/>
          <a:p>
            <a:pPr algn="ctr" indent="0" marL="0">
              <a:buNone/>
            </a:pPr>
            <a:r>
              <a:rPr lang="en-US" sz="1100" dirty="0">
                <a:solidFill>
                  <a:srgbClr val="8BBBA5"/>
                </a:solidFill>
              </a:rPr>
              <a:t>API météo open source gratuite. Prévisions sur 7 jours géolocalisées par GPS. Aucune clé API requise.</a:t>
            </a:r>
            <a:endParaRPr lang="en-US" sz="1100" dirty="0"/>
          </a:p>
        </p:txBody>
      </p:sp>
      <p:sp>
        <p:nvSpPr>
          <p:cNvPr id="17" name="Text 12"/>
          <p:cNvSpPr/>
          <p:nvPr/>
        </p:nvSpPr>
        <p:spPr>
          <a:xfrm>
            <a:off x="320040" y="4800600"/>
            <a:ext cx="8503920" cy="274320"/>
          </a:xfrm>
          <a:prstGeom prst="rect">
            <a:avLst/>
          </a:prstGeom>
          <a:noFill/>
          <a:ln/>
        </p:spPr>
        <p:txBody>
          <a:bodyPr wrap="square" rtlCol="0" anchor="ctr"/>
          <a:lstStyle/>
          <a:p>
            <a:pPr algn="ctr" indent="0" marL="0">
              <a:buNone/>
            </a:pPr>
            <a:r>
              <a:rPr lang="en-US" sz="1000" dirty="0">
                <a:solidFill>
                  <a:srgbClr val="5A8A6A"/>
                </a:solidFill>
              </a:rPr>
              <a:t>IAI Cameroun  •  Projet de Soutenance  •  Année Académique 2025/2026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Scan AI - Soutenance</dc:title>
  <dc:subject>PptxGenJS Presentation</dc:subject>
  <dc:creator>IAI Cameroun</dc:creator>
  <cp:lastModifiedBy>IAI Cameroun</cp:lastModifiedBy>
  <cp:revision>1</cp:revision>
  <dcterms:created xsi:type="dcterms:W3CDTF">2026-05-08T07:18:00Z</dcterms:created>
  <dcterms:modified xsi:type="dcterms:W3CDTF">2026-05-08T07:18:00Z</dcterms:modified>
</cp:coreProperties>
</file>